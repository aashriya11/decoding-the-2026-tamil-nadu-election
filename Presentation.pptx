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chivo Black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08696" y="5987354"/>
            <a:ext cx="3086100" cy="301165"/>
            <a:chOff x="0" y="0"/>
            <a:chExt cx="812800" cy="793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9319"/>
            </a:xfrm>
            <a:custGeom>
              <a:avLst/>
              <a:gdLst/>
              <a:ahLst/>
              <a:cxnLst/>
              <a:rect l="l" t="t" r="r" b="b"/>
              <a:pathLst>
                <a:path w="812800" h="79319">
                  <a:moveTo>
                    <a:pt x="0" y="0"/>
                  </a:moveTo>
                  <a:lnTo>
                    <a:pt x="812800" y="0"/>
                  </a:lnTo>
                  <a:lnTo>
                    <a:pt x="812800" y="79319"/>
                  </a:lnTo>
                  <a:lnTo>
                    <a:pt x="0" y="793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117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47199" y="3744238"/>
            <a:ext cx="13793603" cy="214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3"/>
              </a:lnSpc>
            </a:pPr>
            <a:r>
              <a:rPr lang="en-US" sz="618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DECODING THE </a:t>
            </a:r>
            <a:r>
              <a:rPr lang="en-US" sz="6188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2026 </a:t>
            </a:r>
          </a:p>
          <a:p>
            <a:pPr algn="ctr">
              <a:lnSpc>
                <a:spcPts val="8663"/>
              </a:lnSpc>
            </a:pPr>
            <a:r>
              <a:rPr lang="en-US" sz="6188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TAMIL NADU ASSEMBLY ELECTION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808171" y="1546307"/>
            <a:ext cx="5032662" cy="1849099"/>
            <a:chOff x="0" y="0"/>
            <a:chExt cx="6710216" cy="2465465"/>
          </a:xfrm>
        </p:grpSpPr>
        <p:sp>
          <p:nvSpPr>
            <p:cNvPr id="8" name="Freeform 8"/>
            <p:cNvSpPr/>
            <p:nvPr/>
          </p:nvSpPr>
          <p:spPr>
            <a:xfrm>
              <a:off x="2344289" y="0"/>
              <a:ext cx="4365927" cy="2465465"/>
            </a:xfrm>
            <a:custGeom>
              <a:avLst/>
              <a:gdLst/>
              <a:ahLst/>
              <a:cxnLst/>
              <a:rect l="l" t="t" r="r" b="b"/>
              <a:pathLst>
                <a:path w="4365927" h="2465465">
                  <a:moveTo>
                    <a:pt x="0" y="0"/>
                  </a:moveTo>
                  <a:lnTo>
                    <a:pt x="4365927" y="0"/>
                  </a:lnTo>
                  <a:lnTo>
                    <a:pt x="4365927" y="2465465"/>
                  </a:lnTo>
                  <a:lnTo>
                    <a:pt x="0" y="2465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0" y="151779"/>
              <a:ext cx="2161907" cy="216190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22880" y="301006"/>
              <a:ext cx="1916146" cy="1863452"/>
            </a:xfrm>
            <a:custGeom>
              <a:avLst/>
              <a:gdLst/>
              <a:ahLst/>
              <a:cxnLst/>
              <a:rect l="l" t="t" r="r" b="b"/>
              <a:pathLst>
                <a:path w="1916146" h="1863452">
                  <a:moveTo>
                    <a:pt x="0" y="0"/>
                  </a:moveTo>
                  <a:lnTo>
                    <a:pt x="1916147" y="0"/>
                  </a:lnTo>
                  <a:lnTo>
                    <a:pt x="1916147" y="1863453"/>
                  </a:lnTo>
                  <a:lnTo>
                    <a:pt x="0" y="1863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682331" y="1865422"/>
              <a:ext cx="1102234" cy="136881"/>
              <a:chOff x="0" y="0"/>
              <a:chExt cx="217725" cy="2703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7725" cy="27038"/>
              </a:xfrm>
              <a:custGeom>
                <a:avLst/>
                <a:gdLst/>
                <a:ahLst/>
                <a:cxnLst/>
                <a:rect l="l" t="t" r="r" b="b"/>
                <a:pathLst>
                  <a:path w="217725" h="27038">
                    <a:moveTo>
                      <a:pt x="0" y="0"/>
                    </a:moveTo>
                    <a:lnTo>
                      <a:pt x="217725" y="0"/>
                    </a:lnTo>
                    <a:lnTo>
                      <a:pt x="217725" y="27038"/>
                    </a:lnTo>
                    <a:lnTo>
                      <a:pt x="0" y="2703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17725" cy="651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93763" y="1832737"/>
              <a:ext cx="374381" cy="169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-US" sz="747">
                  <a:solidFill>
                    <a:srgbClr val="E4505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media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180300" y="6939738"/>
            <a:ext cx="7927401" cy="50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3"/>
              </a:lnSpc>
            </a:pPr>
            <a:r>
              <a:rPr lang="en-US" sz="29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Domain: Media &amp; Politics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046" y="4805134"/>
            <a:ext cx="5839702" cy="124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6"/>
              </a:lnSpc>
            </a:pPr>
            <a:r>
              <a:rPr lang="en-US" sz="420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4201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GEOGRAPHIC </a:t>
            </a:r>
            <a:r>
              <a:rPr lang="en-US" sz="420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16106" y="4805134"/>
            <a:ext cx="3255788" cy="1244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4"/>
              </a:lnSpc>
            </a:pPr>
            <a:r>
              <a:rPr lang="en-US" sz="4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4200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FLIP </a:t>
            </a:r>
            <a:r>
              <a:rPr lang="en-US" sz="4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67352" y="4805134"/>
            <a:ext cx="4883093" cy="1244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4"/>
              </a:lnSpc>
            </a:pPr>
            <a:r>
              <a:rPr lang="en-US" sz="4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4200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TURNOUT </a:t>
            </a:r>
            <a:r>
              <a:rPr lang="en-US" sz="4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STORY</a:t>
            </a:r>
          </a:p>
        </p:txBody>
      </p:sp>
      <p:sp>
        <p:nvSpPr>
          <p:cNvPr id="5" name="Freeform 5"/>
          <p:cNvSpPr/>
          <p:nvPr/>
        </p:nvSpPr>
        <p:spPr>
          <a:xfrm>
            <a:off x="10414940" y="628777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7" y="0"/>
                </a:lnTo>
                <a:lnTo>
                  <a:pt x="9587917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46061" y="628780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7" y="0"/>
                </a:lnTo>
                <a:lnTo>
                  <a:pt x="9587917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2365403" y="3494236"/>
            <a:ext cx="1836682" cy="328307"/>
          </a:xfrm>
          <a:custGeom>
            <a:avLst/>
            <a:gdLst/>
            <a:ahLst/>
            <a:cxnLst/>
            <a:rect l="l" t="t" r="r" b="b"/>
            <a:pathLst>
              <a:path w="1836682" h="328307">
                <a:moveTo>
                  <a:pt x="0" y="0"/>
                </a:moveTo>
                <a:lnTo>
                  <a:pt x="1836682" y="0"/>
                </a:lnTo>
                <a:lnTo>
                  <a:pt x="1836682" y="328307"/>
                </a:lnTo>
                <a:lnTo>
                  <a:pt x="0" y="328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8118656" y="3475186"/>
            <a:ext cx="1836682" cy="328307"/>
          </a:xfrm>
          <a:custGeom>
            <a:avLst/>
            <a:gdLst/>
            <a:ahLst/>
            <a:cxnLst/>
            <a:rect l="l" t="t" r="r" b="b"/>
            <a:pathLst>
              <a:path w="1836682" h="328307">
                <a:moveTo>
                  <a:pt x="0" y="0"/>
                </a:moveTo>
                <a:lnTo>
                  <a:pt x="1836681" y="0"/>
                </a:lnTo>
                <a:lnTo>
                  <a:pt x="1836681" y="328307"/>
                </a:lnTo>
                <a:lnTo>
                  <a:pt x="0" y="328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4290558" y="3465661"/>
            <a:ext cx="1836682" cy="328307"/>
          </a:xfrm>
          <a:custGeom>
            <a:avLst/>
            <a:gdLst/>
            <a:ahLst/>
            <a:cxnLst/>
            <a:rect l="l" t="t" r="r" b="b"/>
            <a:pathLst>
              <a:path w="1836682" h="328307">
                <a:moveTo>
                  <a:pt x="0" y="0"/>
                </a:moveTo>
                <a:lnTo>
                  <a:pt x="1836682" y="0"/>
                </a:lnTo>
                <a:lnTo>
                  <a:pt x="1836682" y="328307"/>
                </a:lnTo>
                <a:lnTo>
                  <a:pt x="0" y="328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3283744" y="2740049"/>
            <a:ext cx="1181188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9036997" y="2247742"/>
            <a:ext cx="0" cy="123226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5858937" y="1529672"/>
            <a:ext cx="6356119" cy="47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2"/>
              </a:lnSpc>
            </a:pPr>
            <a:r>
              <a:rPr lang="en-US" sz="285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COVERING 3 MAJOR STORIES</a:t>
            </a:r>
          </a:p>
        </p:txBody>
      </p:sp>
    </p:spTree>
  </p:cSld>
  <p:clrMapOvr>
    <a:masterClrMapping/>
  </p:clrMapOvr>
  <p:transition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344" y="3614797"/>
            <a:ext cx="1449931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9200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GEOGRAPHIC</a:t>
            </a: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16243" y="5114667"/>
            <a:ext cx="9566976" cy="115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4"/>
              </a:lnSpc>
            </a:pPr>
            <a:r>
              <a:rPr lang="en-US" sz="33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—  “Where was political power concentrated?”</a:t>
            </a:r>
          </a:p>
          <a:p>
            <a:pPr algn="ctr">
              <a:lnSpc>
                <a:spcPts val="4664"/>
              </a:lnSpc>
            </a:pPr>
            <a:endParaRPr lang="en-US" sz="3332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0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92514" y="1503810"/>
            <a:ext cx="9716215" cy="7324331"/>
            <a:chOff x="0" y="0"/>
            <a:chExt cx="12954953" cy="9765775"/>
          </a:xfrm>
        </p:grpSpPr>
        <p:sp>
          <p:nvSpPr>
            <p:cNvPr id="4" name="Freeform 4"/>
            <p:cNvSpPr/>
            <p:nvPr/>
          </p:nvSpPr>
          <p:spPr>
            <a:xfrm>
              <a:off x="385169" y="0"/>
              <a:ext cx="11078745" cy="9765775"/>
            </a:xfrm>
            <a:custGeom>
              <a:avLst/>
              <a:gdLst/>
              <a:ahLst/>
              <a:cxnLst/>
              <a:rect l="l" t="t" r="r" b="b"/>
              <a:pathLst>
                <a:path w="11078745" h="9765775">
                  <a:moveTo>
                    <a:pt x="0" y="0"/>
                  </a:moveTo>
                  <a:lnTo>
                    <a:pt x="11078744" y="0"/>
                  </a:lnTo>
                  <a:lnTo>
                    <a:pt x="11078744" y="9765775"/>
                  </a:lnTo>
                  <a:lnTo>
                    <a:pt x="0" y="976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4" r="-464" b="-11635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9073726" y="-66675"/>
              <a:ext cx="3881227" cy="710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16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Chennai Metro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27926" y="576906"/>
              <a:ext cx="1549665" cy="710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16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North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5021" y="2808898"/>
              <a:ext cx="1943226" cy="710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16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Central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676609"/>
              <a:ext cx="1656015" cy="710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16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Kongu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76927" y="4816212"/>
              <a:ext cx="1419413" cy="710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16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7354" y="7194864"/>
              <a:ext cx="1562729" cy="710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16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South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62471" y="7395817"/>
            <a:ext cx="955825" cy="23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58 seats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86844" y="5572426"/>
            <a:ext cx="955825" cy="23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33 seats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86844" y="4071984"/>
            <a:ext cx="955825" cy="23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41 seats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06118" y="1926151"/>
            <a:ext cx="955825" cy="23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32 seats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3046" y="2395019"/>
            <a:ext cx="955825" cy="23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37 seats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97094" y="4784433"/>
            <a:ext cx="955825" cy="23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33 seats</a:t>
            </a:r>
          </a:p>
        </p:txBody>
      </p:sp>
    </p:spTree>
  </p:cSld>
  <p:clrMapOvr>
    <a:masterClrMapping/>
  </p:clrMapOvr>
  <p:transition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50042" y="3911156"/>
            <a:ext cx="9940221" cy="169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6345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WINNING PARTIES</a:t>
            </a:r>
            <a:r>
              <a:rPr lang="en-US" sz="634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OVERVIEW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1917" y="4767973"/>
            <a:ext cx="1524165" cy="1703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9"/>
              </a:lnSpc>
              <a:spcBef>
                <a:spcPct val="0"/>
              </a:spcBef>
            </a:pPr>
            <a:r>
              <a:rPr lang="en-US" sz="1000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0582" y="2935050"/>
            <a:ext cx="4758460" cy="3518868"/>
          </a:xfrm>
          <a:custGeom>
            <a:avLst/>
            <a:gdLst/>
            <a:ahLst/>
            <a:cxnLst/>
            <a:rect l="l" t="t" r="r" b="b"/>
            <a:pathLst>
              <a:path w="4758460" h="3518868">
                <a:moveTo>
                  <a:pt x="0" y="0"/>
                </a:moveTo>
                <a:lnTo>
                  <a:pt x="4758460" y="0"/>
                </a:lnTo>
                <a:lnTo>
                  <a:pt x="4758460" y="3518869"/>
                </a:lnTo>
                <a:lnTo>
                  <a:pt x="0" y="3518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88" t="-7420" r="-3927" b="-2460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32414" y="5300688"/>
            <a:ext cx="1606710" cy="358331"/>
          </a:xfrm>
          <a:custGeom>
            <a:avLst/>
            <a:gdLst/>
            <a:ahLst/>
            <a:cxnLst/>
            <a:rect l="l" t="t" r="r" b="b"/>
            <a:pathLst>
              <a:path w="1606710" h="358331">
                <a:moveTo>
                  <a:pt x="0" y="0"/>
                </a:moveTo>
                <a:lnTo>
                  <a:pt x="1606711" y="0"/>
                </a:lnTo>
                <a:lnTo>
                  <a:pt x="1606711" y="358331"/>
                </a:lnTo>
                <a:lnTo>
                  <a:pt x="0" y="358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32414" y="3497025"/>
            <a:ext cx="1428581" cy="380187"/>
          </a:xfrm>
          <a:custGeom>
            <a:avLst/>
            <a:gdLst/>
            <a:ahLst/>
            <a:cxnLst/>
            <a:rect l="l" t="t" r="r" b="b"/>
            <a:pathLst>
              <a:path w="1428581" h="380187">
                <a:moveTo>
                  <a:pt x="0" y="0"/>
                </a:moveTo>
                <a:lnTo>
                  <a:pt x="1428581" y="0"/>
                </a:lnTo>
                <a:lnTo>
                  <a:pt x="1428581" y="380187"/>
                </a:lnTo>
                <a:lnTo>
                  <a:pt x="0" y="380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20257" y="2935050"/>
            <a:ext cx="4806118" cy="4820239"/>
          </a:xfrm>
          <a:custGeom>
            <a:avLst/>
            <a:gdLst/>
            <a:ahLst/>
            <a:cxnLst/>
            <a:rect l="l" t="t" r="r" b="b"/>
            <a:pathLst>
              <a:path w="4806118" h="4820239">
                <a:moveTo>
                  <a:pt x="0" y="0"/>
                </a:moveTo>
                <a:lnTo>
                  <a:pt x="4806118" y="0"/>
                </a:lnTo>
                <a:lnTo>
                  <a:pt x="4806118" y="4820239"/>
                </a:lnTo>
                <a:lnTo>
                  <a:pt x="0" y="4820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80" t="-1508" r="-368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636738"/>
            <a:ext cx="18547942" cy="728513"/>
            <a:chOff x="0" y="0"/>
            <a:chExt cx="4885055" cy="1918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5055" cy="191872"/>
            </a:xfrm>
            <a:custGeom>
              <a:avLst/>
              <a:gdLst/>
              <a:ahLst/>
              <a:cxnLst/>
              <a:rect l="l" t="t" r="r" b="b"/>
              <a:pathLst>
                <a:path w="4885055" h="191872">
                  <a:moveTo>
                    <a:pt x="0" y="0"/>
                  </a:moveTo>
                  <a:lnTo>
                    <a:pt x="4885055" y="0"/>
                  </a:lnTo>
                  <a:lnTo>
                    <a:pt x="4885055" y="191872"/>
                  </a:lnTo>
                  <a:lnTo>
                    <a:pt x="0" y="191872"/>
                  </a:ln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4885055" cy="220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842878" y="3928525"/>
            <a:ext cx="277152" cy="2195264"/>
          </a:xfrm>
          <a:custGeom>
            <a:avLst/>
            <a:gdLst/>
            <a:ahLst/>
            <a:cxnLst/>
            <a:rect l="l" t="t" r="r" b="b"/>
            <a:pathLst>
              <a:path w="277152" h="2195264">
                <a:moveTo>
                  <a:pt x="0" y="0"/>
                </a:moveTo>
                <a:lnTo>
                  <a:pt x="277152" y="0"/>
                </a:lnTo>
                <a:lnTo>
                  <a:pt x="277152" y="2195263"/>
                </a:lnTo>
                <a:lnTo>
                  <a:pt x="0" y="2195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854606" y="6288817"/>
            <a:ext cx="185142" cy="1466472"/>
          </a:xfrm>
          <a:custGeom>
            <a:avLst/>
            <a:gdLst/>
            <a:ahLst/>
            <a:cxnLst/>
            <a:rect l="l" t="t" r="r" b="b"/>
            <a:pathLst>
              <a:path w="185142" h="1466472">
                <a:moveTo>
                  <a:pt x="0" y="0"/>
                </a:moveTo>
                <a:lnTo>
                  <a:pt x="185142" y="0"/>
                </a:lnTo>
                <a:lnTo>
                  <a:pt x="185142" y="1466472"/>
                </a:lnTo>
                <a:lnTo>
                  <a:pt x="0" y="1466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87701" y="3497025"/>
            <a:ext cx="207867" cy="1646475"/>
          </a:xfrm>
          <a:custGeom>
            <a:avLst/>
            <a:gdLst/>
            <a:ahLst/>
            <a:cxnLst/>
            <a:rect l="l" t="t" r="r" b="b"/>
            <a:pathLst>
              <a:path w="207867" h="1646475">
                <a:moveTo>
                  <a:pt x="0" y="0"/>
                </a:moveTo>
                <a:lnTo>
                  <a:pt x="207868" y="0"/>
                </a:lnTo>
                <a:lnTo>
                  <a:pt x="207868" y="1646475"/>
                </a:lnTo>
                <a:lnTo>
                  <a:pt x="0" y="1646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18838" y="5300688"/>
            <a:ext cx="145595" cy="1153231"/>
          </a:xfrm>
          <a:custGeom>
            <a:avLst/>
            <a:gdLst/>
            <a:ahLst/>
            <a:cxnLst/>
            <a:rect l="l" t="t" r="r" b="b"/>
            <a:pathLst>
              <a:path w="145595" h="1153231">
                <a:moveTo>
                  <a:pt x="0" y="0"/>
                </a:moveTo>
                <a:lnTo>
                  <a:pt x="145595" y="0"/>
                </a:lnTo>
                <a:lnTo>
                  <a:pt x="145595" y="1153231"/>
                </a:lnTo>
                <a:lnTo>
                  <a:pt x="0" y="1153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78806" y="4096889"/>
            <a:ext cx="463641" cy="35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058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9281" y="5653929"/>
            <a:ext cx="289569" cy="35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058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75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844057" y="3399778"/>
            <a:ext cx="1755624" cy="448860"/>
            <a:chOff x="0" y="0"/>
            <a:chExt cx="2340832" cy="598479"/>
          </a:xfrm>
        </p:grpSpPr>
        <p:sp>
          <p:nvSpPr>
            <p:cNvPr id="17" name="TextBox 17"/>
            <p:cNvSpPr txBox="1"/>
            <p:nvPr/>
          </p:nvSpPr>
          <p:spPr>
            <a:xfrm>
              <a:off x="415502" y="167160"/>
              <a:ext cx="641303" cy="298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9"/>
                </a:lnSpc>
              </a:pPr>
              <a:r>
                <a:rPr lang="en-US" sz="12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TVK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2340832" cy="598479"/>
            </a:xfrm>
            <a:custGeom>
              <a:avLst/>
              <a:gdLst/>
              <a:ahLst/>
              <a:cxnLst/>
              <a:rect l="l" t="t" r="r" b="b"/>
              <a:pathLst>
                <a:path w="2340832" h="598479">
                  <a:moveTo>
                    <a:pt x="0" y="0"/>
                  </a:moveTo>
                  <a:lnTo>
                    <a:pt x="2340832" y="0"/>
                  </a:lnTo>
                  <a:lnTo>
                    <a:pt x="2340832" y="598479"/>
                  </a:lnTo>
                  <a:lnTo>
                    <a:pt x="0" y="598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2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1558" b="-1558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423733" y="2852790"/>
            <a:ext cx="3214622" cy="2877339"/>
            <a:chOff x="0" y="0"/>
            <a:chExt cx="846650" cy="757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6649" cy="757818"/>
            </a:xfrm>
            <a:custGeom>
              <a:avLst/>
              <a:gdLst/>
              <a:ahLst/>
              <a:cxnLst/>
              <a:rect l="l" t="t" r="r" b="b"/>
              <a:pathLst>
                <a:path w="846649" h="757818">
                  <a:moveTo>
                    <a:pt x="55392" y="0"/>
                  </a:moveTo>
                  <a:lnTo>
                    <a:pt x="791258" y="0"/>
                  </a:lnTo>
                  <a:cubicBezTo>
                    <a:pt x="821850" y="0"/>
                    <a:pt x="846649" y="24800"/>
                    <a:pt x="846649" y="55392"/>
                  </a:cubicBezTo>
                  <a:lnTo>
                    <a:pt x="846649" y="702426"/>
                  </a:lnTo>
                  <a:cubicBezTo>
                    <a:pt x="846649" y="733018"/>
                    <a:pt x="821850" y="757818"/>
                    <a:pt x="791258" y="757818"/>
                  </a:cubicBezTo>
                  <a:lnTo>
                    <a:pt x="55392" y="757818"/>
                  </a:lnTo>
                  <a:cubicBezTo>
                    <a:pt x="24800" y="757818"/>
                    <a:pt x="0" y="733018"/>
                    <a:pt x="0" y="702426"/>
                  </a:cubicBezTo>
                  <a:lnTo>
                    <a:pt x="0" y="55392"/>
                  </a:lnTo>
                  <a:cubicBezTo>
                    <a:pt x="0" y="24800"/>
                    <a:pt x="24800" y="0"/>
                    <a:pt x="55392" y="0"/>
                  </a:cubicBezTo>
                  <a:close/>
                </a:path>
              </a:pathLst>
            </a:custGeom>
            <a:solidFill>
              <a:srgbClr val="1C1F2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46650" cy="79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433258" y="2853018"/>
            <a:ext cx="3214622" cy="1977084"/>
            <a:chOff x="0" y="0"/>
            <a:chExt cx="846650" cy="5207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46649" cy="520714"/>
            </a:xfrm>
            <a:custGeom>
              <a:avLst/>
              <a:gdLst/>
              <a:ahLst/>
              <a:cxnLst/>
              <a:rect l="l" t="t" r="r" b="b"/>
              <a:pathLst>
                <a:path w="846649" h="520714">
                  <a:moveTo>
                    <a:pt x="55392" y="0"/>
                  </a:moveTo>
                  <a:lnTo>
                    <a:pt x="791258" y="0"/>
                  </a:lnTo>
                  <a:cubicBezTo>
                    <a:pt x="821850" y="0"/>
                    <a:pt x="846649" y="24800"/>
                    <a:pt x="846649" y="55392"/>
                  </a:cubicBezTo>
                  <a:lnTo>
                    <a:pt x="846649" y="465322"/>
                  </a:lnTo>
                  <a:cubicBezTo>
                    <a:pt x="846649" y="480012"/>
                    <a:pt x="840814" y="494102"/>
                    <a:pt x="830426" y="504490"/>
                  </a:cubicBezTo>
                  <a:cubicBezTo>
                    <a:pt x="820038" y="514878"/>
                    <a:pt x="805948" y="520714"/>
                    <a:pt x="791258" y="520714"/>
                  </a:cubicBezTo>
                  <a:lnTo>
                    <a:pt x="55392" y="520714"/>
                  </a:lnTo>
                  <a:cubicBezTo>
                    <a:pt x="24800" y="520714"/>
                    <a:pt x="0" y="495914"/>
                    <a:pt x="0" y="465322"/>
                  </a:cubicBezTo>
                  <a:lnTo>
                    <a:pt x="0" y="55392"/>
                  </a:lnTo>
                  <a:cubicBezTo>
                    <a:pt x="0" y="24800"/>
                    <a:pt x="24800" y="0"/>
                    <a:pt x="55392" y="0"/>
                  </a:cubicBezTo>
                  <a:close/>
                </a:path>
              </a:pathLst>
            </a:custGeom>
            <a:solidFill>
              <a:srgbClr val="1A1D27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46650" cy="558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aphicFrame>
        <p:nvGraphicFramePr>
          <p:cNvPr id="25" name="Object 25"/>
          <p:cNvGraphicFramePr/>
          <p:nvPr/>
        </p:nvGraphicFramePr>
        <p:xfrm>
          <a:off x="14442783" y="3036188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9105900" imgH="5791200" progId="Excel.Sheet.12">
                  <p:embed/>
                </p:oleObj>
              </mc:Choice>
              <mc:Fallback>
                <p:oleObj name="Worksheet" r:id="rId9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442783" y="3036188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6"/>
          <p:cNvSpPr txBox="1"/>
          <p:nvPr/>
        </p:nvSpPr>
        <p:spPr>
          <a:xfrm>
            <a:off x="1028700" y="1773288"/>
            <a:ext cx="1714631" cy="81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4753" b="1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2021 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55980" y="1773288"/>
            <a:ext cx="1788020" cy="81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475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2026 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2565" y="805637"/>
            <a:ext cx="17462869" cy="34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0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Note: To form a government in Tamil Nadu, a party or alliance must secure a majority of  </a:t>
            </a:r>
            <a:r>
              <a:rPr lang="en-US" sz="208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118 seats </a:t>
            </a:r>
            <a:r>
              <a:rPr lang="en-US" sz="20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 of the total 234 constituency seats.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27008" y="4792002"/>
            <a:ext cx="286789" cy="35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058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60086" y="6797303"/>
            <a:ext cx="311670" cy="35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058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00779" y="2492455"/>
            <a:ext cx="2841481" cy="2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282">
                <a:solidFill>
                  <a:srgbClr val="6B7280"/>
                </a:solidFill>
                <a:latin typeface="Canva Sans"/>
                <a:ea typeface="Canva Sans"/>
                <a:cs typeface="Canva Sans"/>
                <a:sym typeface="Canva Sans"/>
              </a:rPr>
              <a:t>Party-wise Seat Decline (2021–2026)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38172" y="232198"/>
            <a:ext cx="7578359" cy="7578359"/>
          </a:xfrm>
          <a:custGeom>
            <a:avLst/>
            <a:gdLst/>
            <a:ahLst/>
            <a:cxnLst/>
            <a:rect l="l" t="t" r="r" b="b"/>
            <a:pathLst>
              <a:path w="7578359" h="7578359">
                <a:moveTo>
                  <a:pt x="0" y="0"/>
                </a:moveTo>
                <a:lnTo>
                  <a:pt x="7578358" y="0"/>
                </a:lnTo>
                <a:lnTo>
                  <a:pt x="7578358" y="7578359"/>
                </a:lnTo>
                <a:lnTo>
                  <a:pt x="0" y="75783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44055" y="348937"/>
            <a:ext cx="2028479" cy="3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TN 2021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64562" y="348937"/>
            <a:ext cx="2057444" cy="3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TN 2026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59755" y="7467353"/>
            <a:ext cx="2724875" cy="44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2" b="1">
                <a:solidFill>
                  <a:srgbClr val="6B72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Highlights: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59755" y="7946270"/>
            <a:ext cx="12079563" cy="72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Strong regional dominance by DMK+ in 2021 election across 5 regions, AIADMK+ retains strength in Kongu Belt.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18136" y="8897359"/>
            <a:ext cx="12079563" cy="72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By 2026, the political map became more fragmented, rise of TVK, increasing regional competition.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822284" y="861759"/>
            <a:ext cx="5619459" cy="6300794"/>
            <a:chOff x="0" y="0"/>
            <a:chExt cx="1872480" cy="2099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2480" cy="2099511"/>
            </a:xfrm>
            <a:custGeom>
              <a:avLst/>
              <a:gdLst/>
              <a:ahLst/>
              <a:cxnLst/>
              <a:rect l="l" t="t" r="r" b="b"/>
              <a:pathLst>
                <a:path w="1872480" h="2099511">
                  <a:moveTo>
                    <a:pt x="0" y="0"/>
                  </a:moveTo>
                  <a:lnTo>
                    <a:pt x="1872480" y="0"/>
                  </a:lnTo>
                  <a:lnTo>
                    <a:pt x="1872480" y="2099511"/>
                  </a:lnTo>
                  <a:lnTo>
                    <a:pt x="0" y="20995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2480" cy="2137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82143" y="861759"/>
            <a:ext cx="5619459" cy="6300794"/>
            <a:chOff x="0" y="0"/>
            <a:chExt cx="1872480" cy="20995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2480" cy="2099511"/>
            </a:xfrm>
            <a:custGeom>
              <a:avLst/>
              <a:gdLst/>
              <a:ahLst/>
              <a:cxnLst/>
              <a:rect l="l" t="t" r="r" b="b"/>
              <a:pathLst>
                <a:path w="1872480" h="2099511">
                  <a:moveTo>
                    <a:pt x="0" y="0"/>
                  </a:moveTo>
                  <a:lnTo>
                    <a:pt x="1872480" y="0"/>
                  </a:lnTo>
                  <a:lnTo>
                    <a:pt x="1872480" y="2099511"/>
                  </a:lnTo>
                  <a:lnTo>
                    <a:pt x="0" y="20995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2480" cy="2137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82143" y="861759"/>
            <a:ext cx="4508296" cy="5044591"/>
            <a:chOff x="0" y="0"/>
            <a:chExt cx="6011061" cy="67261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11061" cy="6726121"/>
            </a:xfrm>
            <a:custGeom>
              <a:avLst/>
              <a:gdLst/>
              <a:ahLst/>
              <a:cxnLst/>
              <a:rect l="l" t="t" r="r" b="b"/>
              <a:pathLst>
                <a:path w="6011061" h="6726121">
                  <a:moveTo>
                    <a:pt x="0" y="0"/>
                  </a:moveTo>
                  <a:lnTo>
                    <a:pt x="6011061" y="0"/>
                  </a:lnTo>
                  <a:lnTo>
                    <a:pt x="6011061" y="6726121"/>
                  </a:lnTo>
                  <a:lnTo>
                    <a:pt x="0" y="6726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068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80614" y="47998"/>
              <a:ext cx="1432417" cy="927570"/>
            </a:xfrm>
            <a:custGeom>
              <a:avLst/>
              <a:gdLst/>
              <a:ahLst/>
              <a:cxnLst/>
              <a:rect l="l" t="t" r="r" b="b"/>
              <a:pathLst>
                <a:path w="1432417" h="927570">
                  <a:moveTo>
                    <a:pt x="0" y="0"/>
                  </a:moveTo>
                  <a:lnTo>
                    <a:pt x="1432417" y="0"/>
                  </a:lnTo>
                  <a:lnTo>
                    <a:pt x="1432417" y="927570"/>
                  </a:lnTo>
                  <a:lnTo>
                    <a:pt x="0" y="927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1400" t="-623491" b="-16018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463354" y="534525"/>
              <a:ext cx="850882" cy="161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7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DMK Alliance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354" y="750575"/>
              <a:ext cx="1138082" cy="161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7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AIADMK Alliance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28196" y="861759"/>
            <a:ext cx="4414041" cy="4947811"/>
            <a:chOff x="0" y="0"/>
            <a:chExt cx="5885388" cy="6597082"/>
          </a:xfrm>
        </p:grpSpPr>
        <p:sp>
          <p:nvSpPr>
            <p:cNvPr id="20" name="Freeform 20"/>
            <p:cNvSpPr/>
            <p:nvPr/>
          </p:nvSpPr>
          <p:spPr>
            <a:xfrm>
              <a:off x="22232" y="0"/>
              <a:ext cx="5863156" cy="6597082"/>
            </a:xfrm>
            <a:custGeom>
              <a:avLst/>
              <a:gdLst/>
              <a:ahLst/>
              <a:cxnLst/>
              <a:rect l="l" t="t" r="r" b="b"/>
              <a:pathLst>
                <a:path w="5863156" h="6597082">
                  <a:moveTo>
                    <a:pt x="0" y="0"/>
                  </a:moveTo>
                  <a:lnTo>
                    <a:pt x="5863156" y="0"/>
                  </a:lnTo>
                  <a:lnTo>
                    <a:pt x="5863156" y="6597082"/>
                  </a:lnTo>
                  <a:lnTo>
                    <a:pt x="0" y="659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427931" cy="1108747"/>
            </a:xfrm>
            <a:custGeom>
              <a:avLst/>
              <a:gdLst/>
              <a:ahLst/>
              <a:cxnLst/>
              <a:rect l="l" t="t" r="r" b="b"/>
              <a:pathLst>
                <a:path w="1427931" h="1108747">
                  <a:moveTo>
                    <a:pt x="0" y="0"/>
                  </a:moveTo>
                  <a:lnTo>
                    <a:pt x="1427931" y="0"/>
                  </a:lnTo>
                  <a:lnTo>
                    <a:pt x="1427931" y="1108747"/>
                  </a:lnTo>
                  <a:lnTo>
                    <a:pt x="0" y="1108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45501" t="-455921" b="-8965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507179" y="694819"/>
              <a:ext cx="834558" cy="166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43"/>
                </a:lnSpc>
              </a:pPr>
              <a:r>
                <a:rPr lang="en-US" sz="74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DMK Alliance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7179" y="482914"/>
              <a:ext cx="834558" cy="166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43"/>
                </a:lnSpc>
              </a:pPr>
              <a:r>
                <a:rPr lang="en-US" sz="74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TVK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7179" y="890725"/>
              <a:ext cx="1116248" cy="166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43"/>
                </a:lnSpc>
              </a:pPr>
              <a:r>
                <a:rPr lang="en-US" sz="74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AIADMK Alliance</a:t>
              </a:r>
            </a:p>
          </p:txBody>
        </p:sp>
      </p:grpSp>
      <p:sp>
        <p:nvSpPr>
          <p:cNvPr id="25" name="Freeform 25"/>
          <p:cNvSpPr/>
          <p:nvPr/>
        </p:nvSpPr>
        <p:spPr>
          <a:xfrm rot="2342003">
            <a:off x="4719702" y="4114986"/>
            <a:ext cx="846014" cy="319370"/>
          </a:xfrm>
          <a:custGeom>
            <a:avLst/>
            <a:gdLst/>
            <a:ahLst/>
            <a:cxnLst/>
            <a:rect l="l" t="t" r="r" b="b"/>
            <a:pathLst>
              <a:path w="846014" h="319370">
                <a:moveTo>
                  <a:pt x="0" y="0"/>
                </a:moveTo>
                <a:lnTo>
                  <a:pt x="846014" y="0"/>
                </a:lnTo>
                <a:lnTo>
                  <a:pt x="846014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2342003">
            <a:off x="11717682" y="4114986"/>
            <a:ext cx="846014" cy="319370"/>
          </a:xfrm>
          <a:custGeom>
            <a:avLst/>
            <a:gdLst/>
            <a:ahLst/>
            <a:cxnLst/>
            <a:rect l="l" t="t" r="r" b="b"/>
            <a:pathLst>
              <a:path w="846014" h="319370">
                <a:moveTo>
                  <a:pt x="0" y="0"/>
                </a:moveTo>
                <a:lnTo>
                  <a:pt x="846015" y="0"/>
                </a:lnTo>
                <a:lnTo>
                  <a:pt x="846015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2116802" y="1084021"/>
            <a:ext cx="4620472" cy="3471860"/>
            <a:chOff x="0" y="0"/>
            <a:chExt cx="6160630" cy="4629147"/>
          </a:xfrm>
        </p:grpSpPr>
        <p:sp>
          <p:nvSpPr>
            <p:cNvPr id="28" name="TextBox 28"/>
            <p:cNvSpPr txBox="1"/>
            <p:nvPr/>
          </p:nvSpPr>
          <p:spPr>
            <a:xfrm>
              <a:off x="2138214" y="214076"/>
              <a:ext cx="539883" cy="24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North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41298" y="1523662"/>
              <a:ext cx="613423" cy="23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00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Central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2583023"/>
              <a:ext cx="601145" cy="252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</a:pPr>
              <a:r>
                <a:rPr lang="en-US" sz="115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Kongu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63338" y="2826173"/>
              <a:ext cx="468604" cy="221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n-US" sz="1046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Delta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6268" y="4407264"/>
              <a:ext cx="492515" cy="221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8"/>
                </a:lnSpc>
              </a:pPr>
              <a:r>
                <a:rPr lang="en-US" sz="99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South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54721" y="-19050"/>
              <a:ext cx="1405908" cy="252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7"/>
                </a:lnSpc>
              </a:pPr>
              <a:r>
                <a:rPr lang="en-US" sz="114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Chennai Metro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22385" y="1084021"/>
            <a:ext cx="4620472" cy="3471860"/>
            <a:chOff x="0" y="0"/>
            <a:chExt cx="6160630" cy="4629147"/>
          </a:xfrm>
        </p:grpSpPr>
        <p:sp>
          <p:nvSpPr>
            <p:cNvPr id="35" name="TextBox 35"/>
            <p:cNvSpPr txBox="1"/>
            <p:nvPr/>
          </p:nvSpPr>
          <p:spPr>
            <a:xfrm>
              <a:off x="2138214" y="214076"/>
              <a:ext cx="539883" cy="24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41298" y="1523662"/>
              <a:ext cx="613423" cy="23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00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Central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583023"/>
              <a:ext cx="601145" cy="252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</a:pPr>
              <a:r>
                <a:rPr lang="en-US" sz="115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Kongu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3338" y="2826173"/>
              <a:ext cx="468604" cy="221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n-US" sz="1046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6268" y="4407264"/>
              <a:ext cx="492515" cy="221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8"/>
                </a:lnSpc>
              </a:pPr>
              <a:r>
                <a:rPr lang="en-US" sz="99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South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54721" y="-19050"/>
              <a:ext cx="1405908" cy="252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7"/>
                </a:lnSpc>
              </a:pPr>
              <a:r>
                <a:rPr lang="en-US" sz="114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Chennai Metro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238172" y="4555881"/>
            <a:ext cx="2152267" cy="2369578"/>
          </a:xfrm>
          <a:custGeom>
            <a:avLst/>
            <a:gdLst/>
            <a:ahLst/>
            <a:cxnLst/>
            <a:rect l="l" t="t" r="r" b="b"/>
            <a:pathLst>
              <a:path w="2152267" h="2369578">
                <a:moveTo>
                  <a:pt x="0" y="0"/>
                </a:moveTo>
                <a:lnTo>
                  <a:pt x="2152267" y="0"/>
                </a:lnTo>
                <a:lnTo>
                  <a:pt x="2152267" y="2369578"/>
                </a:lnTo>
                <a:lnTo>
                  <a:pt x="0" y="23695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1205706" y="4456996"/>
            <a:ext cx="2275312" cy="2567348"/>
          </a:xfrm>
          <a:custGeom>
            <a:avLst/>
            <a:gdLst/>
            <a:ahLst/>
            <a:cxnLst/>
            <a:rect l="l" t="t" r="r" b="b"/>
            <a:pathLst>
              <a:path w="2275312" h="2567348">
                <a:moveTo>
                  <a:pt x="0" y="0"/>
                </a:moveTo>
                <a:lnTo>
                  <a:pt x="2275313" y="0"/>
                </a:lnTo>
                <a:lnTo>
                  <a:pt x="2275313" y="2567348"/>
                </a:lnTo>
                <a:lnTo>
                  <a:pt x="0" y="25673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 rot="-5400000">
            <a:off x="-4621058" y="4482089"/>
            <a:ext cx="10881880" cy="139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26"/>
              </a:lnSpc>
            </a:pPr>
            <a:r>
              <a:rPr lang="en-US" sz="8018">
                <a:solidFill>
                  <a:srgbClr val="1E213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ALLIANCE LEVEL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38172" y="232198"/>
            <a:ext cx="7578359" cy="7578359"/>
          </a:xfrm>
          <a:custGeom>
            <a:avLst/>
            <a:gdLst/>
            <a:ahLst/>
            <a:cxnLst/>
            <a:rect l="l" t="t" r="r" b="b"/>
            <a:pathLst>
              <a:path w="7578359" h="7578359">
                <a:moveTo>
                  <a:pt x="0" y="0"/>
                </a:moveTo>
                <a:lnTo>
                  <a:pt x="7578358" y="0"/>
                </a:lnTo>
                <a:lnTo>
                  <a:pt x="7578358" y="7578359"/>
                </a:lnTo>
                <a:lnTo>
                  <a:pt x="0" y="75783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44055" y="348937"/>
            <a:ext cx="2028479" cy="3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TN 2021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64562" y="348937"/>
            <a:ext cx="2057444" cy="3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TN 2026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59755" y="7467353"/>
            <a:ext cx="2724875" cy="44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2" b="1">
                <a:solidFill>
                  <a:srgbClr val="6B72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Highlights: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59755" y="7946270"/>
            <a:ext cx="12079563" cy="72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At the party level as well, the majority-winning map largely remained similar to 2021, with DMK continuing to dominate most regions.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18136" y="8897359"/>
            <a:ext cx="12480251" cy="109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0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In the 2026 election, </a:t>
            </a:r>
            <a:r>
              <a:rPr lang="en-US" sz="211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TVK</a:t>
            </a: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 emerged as the dominant party in the </a:t>
            </a:r>
            <a:r>
              <a:rPr lang="en-US" sz="211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Chennai Metro</a:t>
            </a: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, North, Kongu, and South regions, while DMK secured the majority of constituencies in the Central region and AIADMK led in the Delta region.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822284" y="861759"/>
            <a:ext cx="5619459" cy="6300794"/>
            <a:chOff x="0" y="0"/>
            <a:chExt cx="1872480" cy="2099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2480" cy="2099511"/>
            </a:xfrm>
            <a:custGeom>
              <a:avLst/>
              <a:gdLst/>
              <a:ahLst/>
              <a:cxnLst/>
              <a:rect l="l" t="t" r="r" b="b"/>
              <a:pathLst>
                <a:path w="1872480" h="2099511">
                  <a:moveTo>
                    <a:pt x="0" y="0"/>
                  </a:moveTo>
                  <a:lnTo>
                    <a:pt x="1872480" y="0"/>
                  </a:lnTo>
                  <a:lnTo>
                    <a:pt x="1872480" y="2099511"/>
                  </a:lnTo>
                  <a:lnTo>
                    <a:pt x="0" y="20995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2480" cy="2137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82143" y="861759"/>
            <a:ext cx="5619459" cy="6300794"/>
            <a:chOff x="0" y="0"/>
            <a:chExt cx="1872480" cy="20995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2480" cy="2099511"/>
            </a:xfrm>
            <a:custGeom>
              <a:avLst/>
              <a:gdLst/>
              <a:ahLst/>
              <a:cxnLst/>
              <a:rect l="l" t="t" r="r" b="b"/>
              <a:pathLst>
                <a:path w="1872480" h="2099511">
                  <a:moveTo>
                    <a:pt x="0" y="0"/>
                  </a:moveTo>
                  <a:lnTo>
                    <a:pt x="1872480" y="0"/>
                  </a:lnTo>
                  <a:lnTo>
                    <a:pt x="1872480" y="2099511"/>
                  </a:lnTo>
                  <a:lnTo>
                    <a:pt x="0" y="20995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2480" cy="2137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91670" y="861759"/>
            <a:ext cx="4180778" cy="4878911"/>
            <a:chOff x="0" y="0"/>
            <a:chExt cx="5574370" cy="6505215"/>
          </a:xfrm>
        </p:grpSpPr>
        <p:sp>
          <p:nvSpPr>
            <p:cNvPr id="15" name="Freeform 15"/>
            <p:cNvSpPr/>
            <p:nvPr/>
          </p:nvSpPr>
          <p:spPr>
            <a:xfrm>
              <a:off x="248225" y="0"/>
              <a:ext cx="5326145" cy="6505215"/>
            </a:xfrm>
            <a:custGeom>
              <a:avLst/>
              <a:gdLst/>
              <a:ahLst/>
              <a:cxnLst/>
              <a:rect l="l" t="t" r="r" b="b"/>
              <a:pathLst>
                <a:path w="5326145" h="6505215">
                  <a:moveTo>
                    <a:pt x="0" y="0"/>
                  </a:moveTo>
                  <a:lnTo>
                    <a:pt x="5326145" y="0"/>
                  </a:lnTo>
                  <a:lnTo>
                    <a:pt x="5326145" y="6505215"/>
                  </a:lnTo>
                  <a:lnTo>
                    <a:pt x="0" y="6505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3603251"/>
              <a:ext cx="1508413" cy="1214819"/>
            </a:xfrm>
            <a:custGeom>
              <a:avLst/>
              <a:gdLst/>
              <a:ahLst/>
              <a:cxnLst/>
              <a:rect l="l" t="t" r="r" b="b"/>
              <a:pathLst>
                <a:path w="1508413" h="1214819">
                  <a:moveTo>
                    <a:pt x="0" y="0"/>
                  </a:moveTo>
                  <a:lnTo>
                    <a:pt x="1508413" y="0"/>
                  </a:lnTo>
                  <a:lnTo>
                    <a:pt x="1508413" y="1214820"/>
                  </a:lnTo>
                  <a:lnTo>
                    <a:pt x="0" y="1214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5155" t="-328534" r="-5949" b="-13426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4818071"/>
              <a:ext cx="1508413" cy="1020548"/>
            </a:xfrm>
            <a:custGeom>
              <a:avLst/>
              <a:gdLst/>
              <a:ahLst/>
              <a:cxnLst/>
              <a:rect l="l" t="t" r="r" b="b"/>
              <a:pathLst>
                <a:path w="1508413" h="1020548">
                  <a:moveTo>
                    <a:pt x="0" y="0"/>
                  </a:moveTo>
                  <a:lnTo>
                    <a:pt x="1508413" y="0"/>
                  </a:lnTo>
                  <a:lnTo>
                    <a:pt x="1508413" y="1020548"/>
                  </a:lnTo>
                  <a:lnTo>
                    <a:pt x="0" y="1020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5155" t="-528452" r="-5949" b="-41480"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754207" y="3835535"/>
              <a:ext cx="566685" cy="183892"/>
              <a:chOff x="0" y="0"/>
              <a:chExt cx="182893" cy="593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82893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182893" h="59350">
                    <a:moveTo>
                      <a:pt x="0" y="0"/>
                    </a:moveTo>
                    <a:lnTo>
                      <a:pt x="182893" y="0"/>
                    </a:lnTo>
                    <a:lnTo>
                      <a:pt x="182893" y="59350"/>
                    </a:lnTo>
                    <a:lnTo>
                      <a:pt x="0" y="593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182893" cy="87925"/>
              </a:xfrm>
              <a:prstGeom prst="rect">
                <a:avLst/>
              </a:prstGeom>
            </p:spPr>
            <p:txBody>
              <a:bodyPr lIns="39538" tIns="39538" rIns="39538" bIns="39538" rtlCol="0" anchor="ctr"/>
              <a:lstStyle/>
              <a:p>
                <a:pPr algn="ctr">
                  <a:lnSpc>
                    <a:spcPts val="1955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778955" y="3841529"/>
              <a:ext cx="505408" cy="162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71"/>
                </a:lnSpc>
              </a:pPr>
              <a:r>
                <a:rPr lang="en-US" sz="76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Parties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74760" y="861759"/>
            <a:ext cx="4147075" cy="4878911"/>
            <a:chOff x="0" y="0"/>
            <a:chExt cx="5529433" cy="65052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29433" cy="6505215"/>
            </a:xfrm>
            <a:custGeom>
              <a:avLst/>
              <a:gdLst/>
              <a:ahLst/>
              <a:cxnLst/>
              <a:rect l="l" t="t" r="r" b="b"/>
              <a:pathLst>
                <a:path w="5529433" h="6505215">
                  <a:moveTo>
                    <a:pt x="0" y="0"/>
                  </a:moveTo>
                  <a:lnTo>
                    <a:pt x="5529433" y="0"/>
                  </a:lnTo>
                  <a:lnTo>
                    <a:pt x="5529433" y="6505215"/>
                  </a:lnTo>
                  <a:lnTo>
                    <a:pt x="0" y="6505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92923" y="3826099"/>
              <a:ext cx="774687" cy="168373"/>
            </a:xfrm>
            <a:custGeom>
              <a:avLst/>
              <a:gdLst/>
              <a:ahLst/>
              <a:cxnLst/>
              <a:rect l="l" t="t" r="r" b="b"/>
              <a:pathLst>
                <a:path w="774687" h="168373">
                  <a:moveTo>
                    <a:pt x="0" y="0"/>
                  </a:moveTo>
                  <a:lnTo>
                    <a:pt x="774687" y="0"/>
                  </a:lnTo>
                  <a:lnTo>
                    <a:pt x="774687" y="168373"/>
                  </a:lnTo>
                  <a:lnTo>
                    <a:pt x="0" y="16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2162" t="-2250766" r="-32972" b="-1628488"/>
              </a:stretch>
            </a:blipFill>
          </p:spPr>
        </p:sp>
        <p:grpSp>
          <p:nvGrpSpPr>
            <p:cNvPr id="25" name="Group 25"/>
            <p:cNvGrpSpPr/>
            <p:nvPr/>
          </p:nvGrpSpPr>
          <p:grpSpPr>
            <a:xfrm>
              <a:off x="393766" y="3787261"/>
              <a:ext cx="566685" cy="183892"/>
              <a:chOff x="0" y="0"/>
              <a:chExt cx="182893" cy="593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82893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182893" h="59350">
                    <a:moveTo>
                      <a:pt x="0" y="0"/>
                    </a:moveTo>
                    <a:lnTo>
                      <a:pt x="182893" y="0"/>
                    </a:lnTo>
                    <a:lnTo>
                      <a:pt x="182893" y="59350"/>
                    </a:lnTo>
                    <a:lnTo>
                      <a:pt x="0" y="593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182893" cy="87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55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24404" y="3801055"/>
              <a:ext cx="505408" cy="162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71"/>
                </a:lnSpc>
              </a:pPr>
              <a:r>
                <a:rPr lang="en-US" sz="76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Parties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08468" y="3994472"/>
              <a:ext cx="774687" cy="215846"/>
            </a:xfrm>
            <a:custGeom>
              <a:avLst/>
              <a:gdLst/>
              <a:ahLst/>
              <a:cxnLst/>
              <a:rect l="l" t="t" r="r" b="b"/>
              <a:pathLst>
                <a:path w="774687" h="215846">
                  <a:moveTo>
                    <a:pt x="0" y="0"/>
                  </a:moveTo>
                  <a:lnTo>
                    <a:pt x="774688" y="0"/>
                  </a:lnTo>
                  <a:lnTo>
                    <a:pt x="774688" y="215846"/>
                  </a:lnTo>
                  <a:lnTo>
                    <a:pt x="0" y="215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2162" t="-2187084" r="-32972" b="-816974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08468" y="4185706"/>
              <a:ext cx="774687" cy="794136"/>
            </a:xfrm>
            <a:custGeom>
              <a:avLst/>
              <a:gdLst/>
              <a:ahLst/>
              <a:cxnLst/>
              <a:rect l="l" t="t" r="r" b="b"/>
              <a:pathLst>
                <a:path w="774687" h="794136">
                  <a:moveTo>
                    <a:pt x="0" y="0"/>
                  </a:moveTo>
                  <a:lnTo>
                    <a:pt x="774688" y="0"/>
                  </a:lnTo>
                  <a:lnTo>
                    <a:pt x="774688" y="794136"/>
                  </a:lnTo>
                  <a:lnTo>
                    <a:pt x="0" y="794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2162" t="-494450" r="-32972" b="-249233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08468" y="4995387"/>
              <a:ext cx="774687" cy="1509828"/>
            </a:xfrm>
            <a:custGeom>
              <a:avLst/>
              <a:gdLst/>
              <a:ahLst/>
              <a:cxnLst/>
              <a:rect l="l" t="t" r="r" b="b"/>
              <a:pathLst>
                <a:path w="774687" h="1509828">
                  <a:moveTo>
                    <a:pt x="0" y="0"/>
                  </a:moveTo>
                  <a:lnTo>
                    <a:pt x="774688" y="0"/>
                  </a:lnTo>
                  <a:lnTo>
                    <a:pt x="774688" y="1509828"/>
                  </a:lnTo>
                  <a:lnTo>
                    <a:pt x="0" y="1509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2162" t="-326931" r="-32972" b="-16827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 rot="2342003">
            <a:off x="4719702" y="4114986"/>
            <a:ext cx="846014" cy="319370"/>
          </a:xfrm>
          <a:custGeom>
            <a:avLst/>
            <a:gdLst/>
            <a:ahLst/>
            <a:cxnLst/>
            <a:rect l="l" t="t" r="r" b="b"/>
            <a:pathLst>
              <a:path w="846014" h="319370">
                <a:moveTo>
                  <a:pt x="0" y="0"/>
                </a:moveTo>
                <a:lnTo>
                  <a:pt x="846014" y="0"/>
                </a:lnTo>
                <a:lnTo>
                  <a:pt x="846014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2342003">
            <a:off x="11717682" y="4114986"/>
            <a:ext cx="846014" cy="319370"/>
          </a:xfrm>
          <a:custGeom>
            <a:avLst/>
            <a:gdLst/>
            <a:ahLst/>
            <a:cxnLst/>
            <a:rect l="l" t="t" r="r" b="b"/>
            <a:pathLst>
              <a:path w="846014" h="319370">
                <a:moveTo>
                  <a:pt x="0" y="0"/>
                </a:moveTo>
                <a:lnTo>
                  <a:pt x="846015" y="0"/>
                </a:lnTo>
                <a:lnTo>
                  <a:pt x="846015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2116802" y="1084021"/>
            <a:ext cx="4620472" cy="3471860"/>
            <a:chOff x="0" y="0"/>
            <a:chExt cx="6160630" cy="4629147"/>
          </a:xfrm>
        </p:grpSpPr>
        <p:sp>
          <p:nvSpPr>
            <p:cNvPr id="35" name="TextBox 35"/>
            <p:cNvSpPr txBox="1"/>
            <p:nvPr/>
          </p:nvSpPr>
          <p:spPr>
            <a:xfrm>
              <a:off x="2138214" y="214076"/>
              <a:ext cx="539883" cy="24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41298" y="1523662"/>
              <a:ext cx="613423" cy="23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00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Central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583023"/>
              <a:ext cx="601145" cy="252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</a:pPr>
              <a:r>
                <a:rPr lang="en-US" sz="115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Kongu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3338" y="2826173"/>
              <a:ext cx="468604" cy="221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n-US" sz="1046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6268" y="4407264"/>
              <a:ext cx="492515" cy="221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8"/>
                </a:lnSpc>
              </a:pPr>
              <a:r>
                <a:rPr lang="en-US" sz="99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South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54721" y="-19050"/>
              <a:ext cx="1405908" cy="252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7"/>
                </a:lnSpc>
              </a:pPr>
              <a:r>
                <a:rPr lang="en-US" sz="114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Chennai Metro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022385" y="1084021"/>
            <a:ext cx="4620472" cy="3471860"/>
            <a:chOff x="0" y="0"/>
            <a:chExt cx="6160630" cy="4629147"/>
          </a:xfrm>
        </p:grpSpPr>
        <p:sp>
          <p:nvSpPr>
            <p:cNvPr id="42" name="TextBox 42"/>
            <p:cNvSpPr txBox="1"/>
            <p:nvPr/>
          </p:nvSpPr>
          <p:spPr>
            <a:xfrm>
              <a:off x="2138214" y="214076"/>
              <a:ext cx="539883" cy="24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North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41298" y="1523662"/>
              <a:ext cx="613423" cy="23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00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Central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2583023"/>
              <a:ext cx="601145" cy="252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</a:pPr>
              <a:r>
                <a:rPr lang="en-US" sz="1150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Kongu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63338" y="2826173"/>
              <a:ext cx="468604" cy="221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n-US" sz="1046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Delta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6268" y="4407264"/>
              <a:ext cx="492515" cy="221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8"/>
                </a:lnSpc>
              </a:pPr>
              <a:r>
                <a:rPr lang="en-US" sz="99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South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54721" y="-19050"/>
              <a:ext cx="1405908" cy="252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7"/>
                </a:lnSpc>
              </a:pPr>
              <a:r>
                <a:rPr lang="en-US" sz="1148" b="1">
                  <a:solidFill>
                    <a:srgbClr val="545454">
                      <a:alpha val="25882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Chennai Metro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 rot="-5400000">
            <a:off x="-4621058" y="4482089"/>
            <a:ext cx="10881880" cy="139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26"/>
              </a:lnSpc>
            </a:pPr>
            <a:r>
              <a:rPr lang="en-US" sz="8018">
                <a:solidFill>
                  <a:srgbClr val="1E213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PARTY LEVEL</a:t>
            </a:r>
          </a:p>
        </p:txBody>
      </p:sp>
      <p:sp>
        <p:nvSpPr>
          <p:cNvPr id="49" name="Freeform 49"/>
          <p:cNvSpPr/>
          <p:nvPr/>
        </p:nvSpPr>
        <p:spPr>
          <a:xfrm>
            <a:off x="4355934" y="4555881"/>
            <a:ext cx="1916743" cy="2457363"/>
          </a:xfrm>
          <a:custGeom>
            <a:avLst/>
            <a:gdLst/>
            <a:ahLst/>
            <a:cxnLst/>
            <a:rect l="l" t="t" r="r" b="b"/>
            <a:pathLst>
              <a:path w="1916743" h="2457363">
                <a:moveTo>
                  <a:pt x="0" y="0"/>
                </a:moveTo>
                <a:lnTo>
                  <a:pt x="1916743" y="0"/>
                </a:lnTo>
                <a:lnTo>
                  <a:pt x="1916743" y="2457364"/>
                </a:lnTo>
                <a:lnTo>
                  <a:pt x="0" y="24573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1218300" y="4489579"/>
            <a:ext cx="2386457" cy="2502183"/>
          </a:xfrm>
          <a:custGeom>
            <a:avLst/>
            <a:gdLst/>
            <a:ahLst/>
            <a:cxnLst/>
            <a:rect l="l" t="t" r="r" b="b"/>
            <a:pathLst>
              <a:path w="2386457" h="2502183">
                <a:moveTo>
                  <a:pt x="0" y="0"/>
                </a:moveTo>
                <a:lnTo>
                  <a:pt x="2386457" y="0"/>
                </a:lnTo>
                <a:lnTo>
                  <a:pt x="2386457" y="2502183"/>
                </a:lnTo>
                <a:lnTo>
                  <a:pt x="0" y="25021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61999" y="3614797"/>
            <a:ext cx="916400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9200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FLIP</a:t>
            </a: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38174" y="5076825"/>
            <a:ext cx="9566976" cy="56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3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— “How did political control change?”</a:t>
            </a:r>
          </a:p>
        </p:txBody>
      </p:sp>
    </p:spTree>
  </p:cSld>
  <p:clrMapOvr>
    <a:masterClrMapping/>
  </p:clrMapOvr>
  <p:transition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3242" y="0"/>
            <a:ext cx="8437555" cy="8437555"/>
          </a:xfrm>
          <a:custGeom>
            <a:avLst/>
            <a:gdLst/>
            <a:ahLst/>
            <a:cxnLst/>
            <a:rect l="l" t="t" r="r" b="b"/>
            <a:pathLst>
              <a:path w="8437555" h="8437555">
                <a:moveTo>
                  <a:pt x="0" y="0"/>
                </a:moveTo>
                <a:lnTo>
                  <a:pt x="8437555" y="0"/>
                </a:lnTo>
                <a:lnTo>
                  <a:pt x="8437555" y="8437555"/>
                </a:lnTo>
                <a:lnTo>
                  <a:pt x="0" y="84375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0535" y="1613948"/>
            <a:ext cx="9402969" cy="5522143"/>
          </a:xfrm>
          <a:custGeom>
            <a:avLst/>
            <a:gdLst/>
            <a:ahLst/>
            <a:cxnLst/>
            <a:rect l="l" t="t" r="r" b="b"/>
            <a:pathLst>
              <a:path w="9402969" h="5522143">
                <a:moveTo>
                  <a:pt x="0" y="0"/>
                </a:moveTo>
                <a:lnTo>
                  <a:pt x="9402969" y="0"/>
                </a:lnTo>
                <a:lnTo>
                  <a:pt x="9402969" y="5522143"/>
                </a:lnTo>
                <a:lnTo>
                  <a:pt x="0" y="5522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6815" b="-103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93683" y="1121479"/>
            <a:ext cx="8747903" cy="5617057"/>
            <a:chOff x="0" y="0"/>
            <a:chExt cx="1935705" cy="12429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5705" cy="1242922"/>
            </a:xfrm>
            <a:custGeom>
              <a:avLst/>
              <a:gdLst/>
              <a:ahLst/>
              <a:cxnLst/>
              <a:rect l="l" t="t" r="r" b="b"/>
              <a:pathLst>
                <a:path w="1935705" h="1242922">
                  <a:moveTo>
                    <a:pt x="15045" y="0"/>
                  </a:moveTo>
                  <a:lnTo>
                    <a:pt x="1920660" y="0"/>
                  </a:lnTo>
                  <a:cubicBezTo>
                    <a:pt x="1928969" y="0"/>
                    <a:pt x="1935705" y="6736"/>
                    <a:pt x="1935705" y="15045"/>
                  </a:cubicBezTo>
                  <a:lnTo>
                    <a:pt x="1935705" y="1227877"/>
                  </a:lnTo>
                  <a:cubicBezTo>
                    <a:pt x="1935705" y="1236186"/>
                    <a:pt x="1928969" y="1242922"/>
                    <a:pt x="1920660" y="1242922"/>
                  </a:cubicBezTo>
                  <a:lnTo>
                    <a:pt x="15045" y="1242922"/>
                  </a:lnTo>
                  <a:cubicBezTo>
                    <a:pt x="11055" y="1242922"/>
                    <a:pt x="7228" y="1241337"/>
                    <a:pt x="4407" y="1238516"/>
                  </a:cubicBezTo>
                  <a:cubicBezTo>
                    <a:pt x="1585" y="1235694"/>
                    <a:pt x="0" y="1231867"/>
                    <a:pt x="0" y="1227877"/>
                  </a:cubicBezTo>
                  <a:lnTo>
                    <a:pt x="0" y="15045"/>
                  </a:lnTo>
                  <a:cubicBezTo>
                    <a:pt x="0" y="6736"/>
                    <a:pt x="6736" y="0"/>
                    <a:pt x="15045" y="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2C2C2C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35705" cy="1271497"/>
            </a:xfrm>
            <a:prstGeom prst="rect">
              <a:avLst/>
            </a:prstGeom>
          </p:spPr>
          <p:txBody>
            <a:bodyPr lIns="43403" tIns="43403" rIns="43403" bIns="43403" rtlCol="0" anchor="ctr"/>
            <a:lstStyle/>
            <a:p>
              <a:pPr algn="ctr">
                <a:lnSpc>
                  <a:spcPts val="225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91579" y="1312305"/>
            <a:ext cx="8365710" cy="5228569"/>
            <a:chOff x="0" y="0"/>
            <a:chExt cx="11154280" cy="69714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154280" cy="6971425"/>
            </a:xfrm>
            <a:custGeom>
              <a:avLst/>
              <a:gdLst/>
              <a:ahLst/>
              <a:cxnLst/>
              <a:rect l="l" t="t" r="r" b="b"/>
              <a:pathLst>
                <a:path w="11154280" h="6971425">
                  <a:moveTo>
                    <a:pt x="0" y="0"/>
                  </a:moveTo>
                  <a:lnTo>
                    <a:pt x="11154280" y="0"/>
                  </a:lnTo>
                  <a:lnTo>
                    <a:pt x="11154280" y="6971425"/>
                  </a:lnTo>
                  <a:lnTo>
                    <a:pt x="0" y="6971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47156" y="522104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93771" y="2301086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3382" y="3327036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1864" y="3379826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40728" y="3047784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41501" y="2908483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02542" y="3111131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63994" y="3920794"/>
              <a:ext cx="644472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103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6753" y="672289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05060" y="285084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95274" y="242852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56315" y="327315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01087" y="2440712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07209" y="1052875"/>
              <a:ext cx="1536925" cy="29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6"/>
                </a:lnSpc>
              </a:pPr>
              <a:r>
                <a:rPr lang="en-US" sz="1418" spc="51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284807" y="668006"/>
            <a:ext cx="5979253" cy="3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PARTY RETENTION AND FLIP STATUS (2021–2026)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9755" y="7467353"/>
            <a:ext cx="2724875" cy="44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2" b="1">
                <a:solidFill>
                  <a:srgbClr val="6B72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Highlights: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9755" y="7946270"/>
            <a:ext cx="12079563" cy="72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DMK able to retain its 40 constituencies, most of the constituencies get flipped of DMK flipped to other parties.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18136" y="8897359"/>
            <a:ext cx="12480251" cy="35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0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AIADMK also able to retain 33 % of its constituencies.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08611" y="9472369"/>
            <a:ext cx="12480251" cy="35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0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Mostly all the parties faces heavy loss in their seats from 2021 to 2026 elections.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31795" y="3614797"/>
            <a:ext cx="1242441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9200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TURNOUT</a:t>
            </a: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38174" y="5076825"/>
            <a:ext cx="9566976" cy="56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33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— “How actively did people participate?”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05925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7" y="0"/>
                </a:lnTo>
                <a:lnTo>
                  <a:pt x="9587917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142003" y="3583202"/>
            <a:ext cx="6915762" cy="955235"/>
            <a:chOff x="0" y="0"/>
            <a:chExt cx="9221016" cy="1273647"/>
          </a:xfrm>
        </p:grpSpPr>
        <p:sp>
          <p:nvSpPr>
            <p:cNvPr id="4" name="AutoShape 4"/>
            <p:cNvSpPr/>
            <p:nvPr/>
          </p:nvSpPr>
          <p:spPr>
            <a:xfrm>
              <a:off x="3311436" y="648397"/>
              <a:ext cx="4333813" cy="0"/>
            </a:xfrm>
            <a:prstGeom prst="line">
              <a:avLst/>
            </a:prstGeom>
            <a:ln w="26270" cap="flat">
              <a:solidFill>
                <a:srgbClr val="F2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11124"/>
              <a:ext cx="2881725" cy="600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3"/>
                </a:lnSpc>
              </a:pPr>
              <a:r>
                <a:rPr lang="en-US" sz="2745">
                  <a:solidFill>
                    <a:srgbClr val="F2FF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Turnout %  =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76191" y="-47625"/>
              <a:ext cx="3512921" cy="531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2FF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People who voted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87709" y="745255"/>
              <a:ext cx="3889885" cy="528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2386">
                  <a:solidFill>
                    <a:srgbClr val="F2FF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Total Eligible Voters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65826" y="345692"/>
              <a:ext cx="256458" cy="531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2FF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84981" y="342603"/>
              <a:ext cx="836035" cy="563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F2FF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11295" y="5903009"/>
            <a:ext cx="3181350" cy="1581238"/>
            <a:chOff x="0" y="0"/>
            <a:chExt cx="4241800" cy="2108317"/>
          </a:xfrm>
        </p:grpSpPr>
        <p:grpSp>
          <p:nvGrpSpPr>
            <p:cNvPr id="11" name="Group 11"/>
            <p:cNvGrpSpPr/>
            <p:nvPr/>
          </p:nvGrpSpPr>
          <p:grpSpPr>
            <a:xfrm>
              <a:off x="127000" y="156897"/>
              <a:ext cx="4114800" cy="1951420"/>
              <a:chOff x="0" y="0"/>
              <a:chExt cx="812800" cy="38546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3854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85466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85466"/>
                    </a:lnTo>
                    <a:lnTo>
                      <a:pt x="0" y="38546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812800" cy="414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4114800" cy="1951420"/>
              <a:chOff x="0" y="0"/>
              <a:chExt cx="812800" cy="38546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3854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85466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85466"/>
                    </a:lnTo>
                    <a:lnTo>
                      <a:pt x="0" y="3854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812800" cy="414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1249792"/>
              <a:ext cx="4114800" cy="701627"/>
              <a:chOff x="0" y="0"/>
              <a:chExt cx="812800" cy="13859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13859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859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38593"/>
                    </a:lnTo>
                    <a:lnTo>
                      <a:pt x="0" y="138593"/>
                    </a:lnTo>
                    <a:close/>
                  </a:path>
                </a:pathLst>
              </a:custGeom>
              <a:solidFill>
                <a:srgbClr val="F6A82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812800" cy="16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491867" y="1252254"/>
              <a:ext cx="1131065" cy="639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5"/>
                </a:lnSpc>
              </a:pPr>
              <a:r>
                <a:rPr lang="en-US" sz="2868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1327" y="134672"/>
              <a:ext cx="1952146" cy="841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8"/>
                </a:lnSpc>
              </a:pPr>
              <a:r>
                <a:rPr lang="en-US" sz="372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73.6 %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52145" y="5903009"/>
            <a:ext cx="3193477" cy="1581238"/>
            <a:chOff x="0" y="0"/>
            <a:chExt cx="4257969" cy="2108317"/>
          </a:xfrm>
        </p:grpSpPr>
        <p:grpSp>
          <p:nvGrpSpPr>
            <p:cNvPr id="23" name="Group 23"/>
            <p:cNvGrpSpPr/>
            <p:nvPr/>
          </p:nvGrpSpPr>
          <p:grpSpPr>
            <a:xfrm>
              <a:off x="143169" y="156897"/>
              <a:ext cx="4114800" cy="1951420"/>
              <a:chOff x="0" y="0"/>
              <a:chExt cx="812800" cy="38546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3854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85466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85466"/>
                    </a:lnTo>
                    <a:lnTo>
                      <a:pt x="0" y="38546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812800" cy="414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0"/>
              <a:ext cx="4114800" cy="1951420"/>
              <a:chOff x="0" y="0"/>
              <a:chExt cx="812800" cy="38546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3854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85466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85466"/>
                    </a:lnTo>
                    <a:lnTo>
                      <a:pt x="0" y="3854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812800" cy="414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1249792"/>
              <a:ext cx="4114800" cy="701627"/>
              <a:chOff x="0" y="0"/>
              <a:chExt cx="812800" cy="13859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13859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859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38593"/>
                    </a:lnTo>
                    <a:lnTo>
                      <a:pt x="0" y="138593"/>
                    </a:lnTo>
                    <a:close/>
                  </a:path>
                </a:pathLst>
              </a:custGeom>
              <a:solidFill>
                <a:srgbClr val="F6A829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812800" cy="16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462356" y="1252254"/>
              <a:ext cx="1190088" cy="639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5"/>
                </a:lnSpc>
              </a:pPr>
              <a:r>
                <a:rPr lang="en-US" sz="2868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2026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65388" y="134672"/>
              <a:ext cx="2024493" cy="841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8"/>
                </a:lnSpc>
              </a:pPr>
              <a:r>
                <a:rPr lang="en-US" sz="372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85.1 %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942794" y="8003253"/>
            <a:ext cx="13314180" cy="727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The 2026 election was driven not only by party competition, but also by unprecedented voter participation and engagement.</a:t>
            </a:r>
          </a:p>
        </p:txBody>
      </p:sp>
    </p:spTree>
  </p:cSld>
  <p:clrMapOvr>
    <a:masterClrMapping/>
  </p:clrMapOvr>
  <p:transition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0277" y="349542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7" y="0"/>
                </a:lnTo>
                <a:lnTo>
                  <a:pt x="9587917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47625" cap="sq">
            <a:solidFill>
              <a:srgbClr val="000000">
                <a:alpha val="9804"/>
              </a:srgbClr>
            </a:solidFill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923539" y="477277"/>
            <a:ext cx="6613487" cy="9332445"/>
            <a:chOff x="0" y="0"/>
            <a:chExt cx="8817983" cy="1244326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38100" y="3873439"/>
              <a:ext cx="8779883" cy="5156218"/>
            </a:xfrm>
            <a:custGeom>
              <a:avLst/>
              <a:gdLst/>
              <a:ahLst/>
              <a:cxnLst/>
              <a:rect l="l" t="t" r="r" b="b"/>
              <a:pathLst>
                <a:path w="8779883" h="5156218">
                  <a:moveTo>
                    <a:pt x="0" y="0"/>
                  </a:moveTo>
                  <a:lnTo>
                    <a:pt x="8779883" y="0"/>
                  </a:lnTo>
                  <a:lnTo>
                    <a:pt x="8779883" y="5156218"/>
                  </a:lnTo>
                  <a:lnTo>
                    <a:pt x="0" y="515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6815" b="-1034"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349172" y="3413603"/>
              <a:ext cx="8168224" cy="5244843"/>
              <a:chOff x="0" y="0"/>
              <a:chExt cx="1935705" cy="124292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35705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1935705" h="1242922">
                    <a:moveTo>
                      <a:pt x="21484" y="0"/>
                    </a:moveTo>
                    <a:lnTo>
                      <a:pt x="1914221" y="0"/>
                    </a:lnTo>
                    <a:cubicBezTo>
                      <a:pt x="1926086" y="0"/>
                      <a:pt x="1935705" y="9619"/>
                      <a:pt x="1935705" y="21484"/>
                    </a:cubicBezTo>
                    <a:lnTo>
                      <a:pt x="1935705" y="1221439"/>
                    </a:lnTo>
                    <a:cubicBezTo>
                      <a:pt x="1935705" y="1233304"/>
                      <a:pt x="1926086" y="1242922"/>
                      <a:pt x="1914221" y="1242922"/>
                    </a:cubicBezTo>
                    <a:lnTo>
                      <a:pt x="21484" y="1242922"/>
                    </a:lnTo>
                    <a:cubicBezTo>
                      <a:pt x="15786" y="1242922"/>
                      <a:pt x="10321" y="1240659"/>
                      <a:pt x="6292" y="1236630"/>
                    </a:cubicBezTo>
                    <a:cubicBezTo>
                      <a:pt x="2263" y="1232601"/>
                      <a:pt x="0" y="1227136"/>
                      <a:pt x="0" y="1221439"/>
                    </a:cubicBezTo>
                    <a:lnTo>
                      <a:pt x="0" y="21484"/>
                    </a:lnTo>
                    <a:cubicBezTo>
                      <a:pt x="0" y="9619"/>
                      <a:pt x="9619" y="0"/>
                      <a:pt x="214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1935705" cy="1271497"/>
              </a:xfrm>
              <a:prstGeom prst="rect">
                <a:avLst/>
              </a:prstGeom>
            </p:spPr>
            <p:txBody>
              <a:bodyPr lIns="43403" tIns="43403" rIns="43403" bIns="43403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66671" y="420500"/>
              <a:ext cx="6836198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Reservation Category 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Pattern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35457" y="3840472"/>
              <a:ext cx="7195654" cy="4391105"/>
            </a:xfrm>
            <a:custGeom>
              <a:avLst/>
              <a:gdLst/>
              <a:ahLst/>
              <a:cxnLst/>
              <a:rect l="l" t="t" r="r" b="b"/>
              <a:pathLst>
                <a:path w="7195654" h="4391105">
                  <a:moveTo>
                    <a:pt x="0" y="0"/>
                  </a:moveTo>
                  <a:lnTo>
                    <a:pt x="7195654" y="0"/>
                  </a:lnTo>
                  <a:lnTo>
                    <a:pt x="7195654" y="4391105"/>
                  </a:lnTo>
                  <a:lnTo>
                    <a:pt x="0" y="4391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51" r="-1449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162683" y="477277"/>
            <a:ext cx="6613487" cy="9332445"/>
            <a:chOff x="0" y="0"/>
            <a:chExt cx="8817983" cy="1244326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38100" y="3873439"/>
              <a:ext cx="8779883" cy="5156218"/>
            </a:xfrm>
            <a:custGeom>
              <a:avLst/>
              <a:gdLst/>
              <a:ahLst/>
              <a:cxnLst/>
              <a:rect l="l" t="t" r="r" b="b"/>
              <a:pathLst>
                <a:path w="8779883" h="5156218">
                  <a:moveTo>
                    <a:pt x="0" y="0"/>
                  </a:moveTo>
                  <a:lnTo>
                    <a:pt x="8779883" y="0"/>
                  </a:lnTo>
                  <a:lnTo>
                    <a:pt x="8779883" y="5156218"/>
                  </a:lnTo>
                  <a:lnTo>
                    <a:pt x="0" y="515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6815" b="-1034"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349172" y="3413603"/>
              <a:ext cx="8168224" cy="5244843"/>
              <a:chOff x="0" y="0"/>
              <a:chExt cx="1935705" cy="124292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935705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1935705" h="1242922">
                    <a:moveTo>
                      <a:pt x="21484" y="0"/>
                    </a:moveTo>
                    <a:lnTo>
                      <a:pt x="1914221" y="0"/>
                    </a:lnTo>
                    <a:cubicBezTo>
                      <a:pt x="1926086" y="0"/>
                      <a:pt x="1935705" y="9619"/>
                      <a:pt x="1935705" y="21484"/>
                    </a:cubicBezTo>
                    <a:lnTo>
                      <a:pt x="1935705" y="1221439"/>
                    </a:lnTo>
                    <a:cubicBezTo>
                      <a:pt x="1935705" y="1233304"/>
                      <a:pt x="1926086" y="1242922"/>
                      <a:pt x="1914221" y="1242922"/>
                    </a:cubicBezTo>
                    <a:lnTo>
                      <a:pt x="21484" y="1242922"/>
                    </a:lnTo>
                    <a:cubicBezTo>
                      <a:pt x="15786" y="1242922"/>
                      <a:pt x="10321" y="1240659"/>
                      <a:pt x="6292" y="1236630"/>
                    </a:cubicBezTo>
                    <a:cubicBezTo>
                      <a:pt x="2263" y="1232601"/>
                      <a:pt x="0" y="1227136"/>
                      <a:pt x="0" y="1221439"/>
                    </a:cubicBezTo>
                    <a:lnTo>
                      <a:pt x="0" y="21484"/>
                    </a:lnTo>
                    <a:cubicBezTo>
                      <a:pt x="0" y="9619"/>
                      <a:pt x="9619" y="0"/>
                      <a:pt x="214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1935705" cy="1271497"/>
              </a:xfrm>
              <a:prstGeom prst="rect">
                <a:avLst/>
              </a:prstGeom>
            </p:spPr>
            <p:txBody>
              <a:bodyPr lIns="43403" tIns="43403" rIns="43403" bIns="43403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506421" y="3873439"/>
              <a:ext cx="8010975" cy="4168794"/>
            </a:xfrm>
            <a:custGeom>
              <a:avLst/>
              <a:gdLst/>
              <a:ahLst/>
              <a:cxnLst/>
              <a:rect l="l" t="t" r="r" b="b"/>
              <a:pathLst>
                <a:path w="8010975" h="4168794">
                  <a:moveTo>
                    <a:pt x="0" y="0"/>
                  </a:moveTo>
                  <a:lnTo>
                    <a:pt x="8010975" y="0"/>
                  </a:lnTo>
                  <a:lnTo>
                    <a:pt x="8010975" y="4168794"/>
                  </a:lnTo>
                  <a:lnTo>
                    <a:pt x="0" y="4168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86" r="-378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1253213" y="420500"/>
              <a:ext cx="6349656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Region 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Pattern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32704" y="254292"/>
            <a:ext cx="11585755" cy="10032708"/>
            <a:chOff x="0" y="0"/>
            <a:chExt cx="3051392" cy="264235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51392" cy="2642359"/>
            </a:xfrm>
            <a:custGeom>
              <a:avLst/>
              <a:gdLst/>
              <a:ahLst/>
              <a:cxnLst/>
              <a:rect l="l" t="t" r="r" b="b"/>
              <a:pathLst>
                <a:path w="3051392" h="2642359">
                  <a:moveTo>
                    <a:pt x="0" y="0"/>
                  </a:moveTo>
                  <a:lnTo>
                    <a:pt x="3051392" y="0"/>
                  </a:lnTo>
                  <a:lnTo>
                    <a:pt x="3051392" y="2642359"/>
                  </a:lnTo>
                  <a:lnTo>
                    <a:pt x="0" y="2642359"/>
                  </a:lnTo>
                  <a:close/>
                </a:path>
              </a:pathLst>
            </a:custGeom>
            <a:solidFill>
              <a:srgbClr val="000000">
                <a:alpha val="76863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051392" cy="2680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153570" y="254292"/>
            <a:ext cx="6584912" cy="9332445"/>
            <a:chOff x="0" y="0"/>
            <a:chExt cx="8779883" cy="1244326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890558" y="2325534"/>
              <a:ext cx="6910797" cy="9704480"/>
            </a:xfrm>
            <a:custGeom>
              <a:avLst/>
              <a:gdLst/>
              <a:ahLst/>
              <a:cxnLst/>
              <a:rect l="l" t="t" r="r" b="b"/>
              <a:pathLst>
                <a:path w="6910797" h="9704480">
                  <a:moveTo>
                    <a:pt x="0" y="0"/>
                  </a:moveTo>
                  <a:lnTo>
                    <a:pt x="6910798" y="0"/>
                  </a:lnTo>
                  <a:lnTo>
                    <a:pt x="6910798" y="9704480"/>
                  </a:lnTo>
                  <a:lnTo>
                    <a:pt x="0" y="970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382"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>
              <a:off x="1089045" y="1631980"/>
              <a:ext cx="6513825" cy="9960848"/>
              <a:chOff x="0" y="0"/>
              <a:chExt cx="812800" cy="124292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242922">
                    <a:moveTo>
                      <a:pt x="26940" y="0"/>
                    </a:moveTo>
                    <a:lnTo>
                      <a:pt x="785860" y="0"/>
                    </a:lnTo>
                    <a:cubicBezTo>
                      <a:pt x="800738" y="0"/>
                      <a:pt x="812800" y="12062"/>
                      <a:pt x="812800" y="26940"/>
                    </a:cubicBezTo>
                    <a:lnTo>
                      <a:pt x="812800" y="1215982"/>
                    </a:lnTo>
                    <a:cubicBezTo>
                      <a:pt x="812800" y="1230861"/>
                      <a:pt x="800738" y="1242922"/>
                      <a:pt x="785860" y="1242922"/>
                    </a:cubicBezTo>
                    <a:lnTo>
                      <a:pt x="26940" y="1242922"/>
                    </a:lnTo>
                    <a:cubicBezTo>
                      <a:pt x="12062" y="1242922"/>
                      <a:pt x="0" y="1230861"/>
                      <a:pt x="0" y="1215982"/>
                    </a:cubicBezTo>
                    <a:lnTo>
                      <a:pt x="0" y="26940"/>
                    </a:lnTo>
                    <a:cubicBezTo>
                      <a:pt x="0" y="12062"/>
                      <a:pt x="12062" y="0"/>
                      <a:pt x="269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812800" cy="12714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4755453" y="2325534"/>
              <a:ext cx="2683816" cy="9084760"/>
            </a:xfrm>
            <a:custGeom>
              <a:avLst/>
              <a:gdLst/>
              <a:ahLst/>
              <a:cxnLst/>
              <a:rect l="l" t="t" r="r" b="b"/>
              <a:pathLst>
                <a:path w="2683816" h="9084760">
                  <a:moveTo>
                    <a:pt x="0" y="0"/>
                  </a:moveTo>
                  <a:lnTo>
                    <a:pt x="2683816" y="0"/>
                  </a:lnTo>
                  <a:lnTo>
                    <a:pt x="2683816" y="9084760"/>
                  </a:lnTo>
                  <a:lnTo>
                    <a:pt x="0" y="908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6190" t="-1802"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481245" y="2325534"/>
              <a:ext cx="3553200" cy="9084760"/>
            </a:xfrm>
            <a:custGeom>
              <a:avLst/>
              <a:gdLst/>
              <a:ahLst/>
              <a:cxnLst/>
              <a:rect l="l" t="t" r="r" b="b"/>
              <a:pathLst>
                <a:path w="3553200" h="9084760">
                  <a:moveTo>
                    <a:pt x="0" y="0"/>
                  </a:moveTo>
                  <a:lnTo>
                    <a:pt x="3553199" y="0"/>
                  </a:lnTo>
                  <a:lnTo>
                    <a:pt x="3553199" y="9084760"/>
                  </a:lnTo>
                  <a:lnTo>
                    <a:pt x="0" y="908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903" t="-1802" r="-14558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1253213" y="420500"/>
              <a:ext cx="6349656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 20 </a:t>
              </a: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Constituencies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82400" y="918270"/>
              <a:ext cx="4650914" cy="370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6"/>
                </a:lnSpc>
                <a:spcBef>
                  <a:spcPct val="0"/>
                </a:spcBef>
              </a:pPr>
              <a:r>
                <a:rPr lang="en-US" sz="1690" spc="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with largest increase in Turnout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99012" y="1907737"/>
              <a:ext cx="1752441" cy="235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spc="39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Increased Turnout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40555" y="1904618"/>
              <a:ext cx="1282793" cy="242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spc="39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Constituency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3151449" y="971550"/>
            <a:ext cx="2724875" cy="44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2" b="1">
                <a:solidFill>
                  <a:srgbClr val="6B72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Highlights: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037484" y="1564251"/>
            <a:ext cx="4424938" cy="184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These constituencies with the high turnout increase  showed signs of stronger electoral competition and higher political engagement. </a:t>
            </a:r>
          </a:p>
        </p:txBody>
      </p:sp>
    </p:spTree>
  </p:cSld>
  <p:clrMapOvr>
    <a:masterClrMapping/>
  </p:clrMapOvr>
  <p:transition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39963" y="477277"/>
            <a:ext cx="6584912" cy="9332445"/>
            <a:chOff x="0" y="0"/>
            <a:chExt cx="8779883" cy="1244326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890558" y="2325534"/>
              <a:ext cx="6910797" cy="9704480"/>
            </a:xfrm>
            <a:custGeom>
              <a:avLst/>
              <a:gdLst/>
              <a:ahLst/>
              <a:cxnLst/>
              <a:rect l="l" t="t" r="r" b="b"/>
              <a:pathLst>
                <a:path w="6910797" h="9704480">
                  <a:moveTo>
                    <a:pt x="0" y="0"/>
                  </a:moveTo>
                  <a:lnTo>
                    <a:pt x="6910798" y="0"/>
                  </a:lnTo>
                  <a:lnTo>
                    <a:pt x="6910798" y="9704480"/>
                  </a:lnTo>
                  <a:lnTo>
                    <a:pt x="0" y="970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82"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1089045" y="1631980"/>
              <a:ext cx="6513825" cy="9960848"/>
              <a:chOff x="0" y="0"/>
              <a:chExt cx="812800" cy="124292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242922">
                    <a:moveTo>
                      <a:pt x="26940" y="0"/>
                    </a:moveTo>
                    <a:lnTo>
                      <a:pt x="785860" y="0"/>
                    </a:lnTo>
                    <a:cubicBezTo>
                      <a:pt x="800738" y="0"/>
                      <a:pt x="812800" y="12062"/>
                      <a:pt x="812800" y="26940"/>
                    </a:cubicBezTo>
                    <a:lnTo>
                      <a:pt x="812800" y="1215982"/>
                    </a:lnTo>
                    <a:cubicBezTo>
                      <a:pt x="812800" y="1230861"/>
                      <a:pt x="800738" y="1242922"/>
                      <a:pt x="785860" y="1242922"/>
                    </a:cubicBezTo>
                    <a:lnTo>
                      <a:pt x="26940" y="1242922"/>
                    </a:lnTo>
                    <a:cubicBezTo>
                      <a:pt x="12062" y="1242922"/>
                      <a:pt x="0" y="1230861"/>
                      <a:pt x="0" y="1215982"/>
                    </a:cubicBezTo>
                    <a:lnTo>
                      <a:pt x="0" y="26940"/>
                    </a:lnTo>
                    <a:cubicBezTo>
                      <a:pt x="0" y="12062"/>
                      <a:pt x="12062" y="0"/>
                      <a:pt x="269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812800" cy="12714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4755453" y="2325534"/>
              <a:ext cx="2683816" cy="9084760"/>
            </a:xfrm>
            <a:custGeom>
              <a:avLst/>
              <a:gdLst/>
              <a:ahLst/>
              <a:cxnLst/>
              <a:rect l="l" t="t" r="r" b="b"/>
              <a:pathLst>
                <a:path w="2683816" h="9084760">
                  <a:moveTo>
                    <a:pt x="0" y="0"/>
                  </a:moveTo>
                  <a:lnTo>
                    <a:pt x="2683816" y="0"/>
                  </a:lnTo>
                  <a:lnTo>
                    <a:pt x="2683816" y="9084760"/>
                  </a:lnTo>
                  <a:lnTo>
                    <a:pt x="0" y="908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6190" t="-180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481245" y="2325534"/>
              <a:ext cx="3553200" cy="9084760"/>
            </a:xfrm>
            <a:custGeom>
              <a:avLst/>
              <a:gdLst/>
              <a:ahLst/>
              <a:cxnLst/>
              <a:rect l="l" t="t" r="r" b="b"/>
              <a:pathLst>
                <a:path w="3553200" h="9084760">
                  <a:moveTo>
                    <a:pt x="0" y="0"/>
                  </a:moveTo>
                  <a:lnTo>
                    <a:pt x="3553199" y="0"/>
                  </a:lnTo>
                  <a:lnTo>
                    <a:pt x="3553199" y="9084760"/>
                  </a:lnTo>
                  <a:lnTo>
                    <a:pt x="0" y="908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903" t="-1802" r="-1455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253213" y="420500"/>
              <a:ext cx="6349656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 20 </a:t>
              </a: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Constituencies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2400" y="918270"/>
              <a:ext cx="4650914" cy="370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6"/>
                </a:lnSpc>
                <a:spcBef>
                  <a:spcPct val="0"/>
                </a:spcBef>
              </a:pPr>
              <a:r>
                <a:rPr lang="en-US" sz="1690" spc="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with largest increase in Turnout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9012" y="1907737"/>
              <a:ext cx="1752441" cy="235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spc="39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Increased Turnout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40555" y="1904618"/>
              <a:ext cx="1282793" cy="242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spc="39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Constituency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50532" y="477277"/>
            <a:ext cx="6613487" cy="9332445"/>
            <a:chOff x="0" y="0"/>
            <a:chExt cx="8817983" cy="1244326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38100" y="3873439"/>
              <a:ext cx="8779883" cy="5156218"/>
            </a:xfrm>
            <a:custGeom>
              <a:avLst/>
              <a:gdLst/>
              <a:ahLst/>
              <a:cxnLst/>
              <a:rect l="l" t="t" r="r" b="b"/>
              <a:pathLst>
                <a:path w="8779883" h="5156218">
                  <a:moveTo>
                    <a:pt x="0" y="0"/>
                  </a:moveTo>
                  <a:lnTo>
                    <a:pt x="8779883" y="0"/>
                  </a:lnTo>
                  <a:lnTo>
                    <a:pt x="8779883" y="5156218"/>
                  </a:lnTo>
                  <a:lnTo>
                    <a:pt x="0" y="515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6815" b="-1034"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349172" y="3413603"/>
              <a:ext cx="8168224" cy="5244843"/>
              <a:chOff x="0" y="0"/>
              <a:chExt cx="1935705" cy="124292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35705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1935705" h="1242922">
                    <a:moveTo>
                      <a:pt x="21484" y="0"/>
                    </a:moveTo>
                    <a:lnTo>
                      <a:pt x="1914221" y="0"/>
                    </a:lnTo>
                    <a:cubicBezTo>
                      <a:pt x="1926086" y="0"/>
                      <a:pt x="1935705" y="9619"/>
                      <a:pt x="1935705" y="21484"/>
                    </a:cubicBezTo>
                    <a:lnTo>
                      <a:pt x="1935705" y="1221439"/>
                    </a:lnTo>
                    <a:cubicBezTo>
                      <a:pt x="1935705" y="1233304"/>
                      <a:pt x="1926086" y="1242922"/>
                      <a:pt x="1914221" y="1242922"/>
                    </a:cubicBezTo>
                    <a:lnTo>
                      <a:pt x="21484" y="1242922"/>
                    </a:lnTo>
                    <a:cubicBezTo>
                      <a:pt x="15786" y="1242922"/>
                      <a:pt x="10321" y="1240659"/>
                      <a:pt x="6292" y="1236630"/>
                    </a:cubicBezTo>
                    <a:cubicBezTo>
                      <a:pt x="2263" y="1232601"/>
                      <a:pt x="0" y="1227136"/>
                      <a:pt x="0" y="1221439"/>
                    </a:cubicBezTo>
                    <a:lnTo>
                      <a:pt x="0" y="21484"/>
                    </a:lnTo>
                    <a:cubicBezTo>
                      <a:pt x="0" y="9619"/>
                      <a:pt x="9619" y="0"/>
                      <a:pt x="214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1935705" cy="1271497"/>
              </a:xfrm>
              <a:prstGeom prst="rect">
                <a:avLst/>
              </a:prstGeom>
            </p:spPr>
            <p:txBody>
              <a:bodyPr lIns="43403" tIns="43403" rIns="43403" bIns="43403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66671" y="420500"/>
              <a:ext cx="6836198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Reservation Category 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Pattern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35457" y="3840472"/>
              <a:ext cx="7195654" cy="4391105"/>
            </a:xfrm>
            <a:custGeom>
              <a:avLst/>
              <a:gdLst/>
              <a:ahLst/>
              <a:cxnLst/>
              <a:rect l="l" t="t" r="r" b="b"/>
              <a:pathLst>
                <a:path w="7195654" h="4391105">
                  <a:moveTo>
                    <a:pt x="0" y="0"/>
                  </a:moveTo>
                  <a:lnTo>
                    <a:pt x="7195654" y="0"/>
                  </a:lnTo>
                  <a:lnTo>
                    <a:pt x="7195654" y="4391105"/>
                  </a:lnTo>
                  <a:lnTo>
                    <a:pt x="0" y="4391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51" r="-14498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620554" y="254292"/>
            <a:ext cx="11585755" cy="10032708"/>
            <a:chOff x="0" y="0"/>
            <a:chExt cx="3051392" cy="26423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51392" cy="2642359"/>
            </a:xfrm>
            <a:custGeom>
              <a:avLst/>
              <a:gdLst/>
              <a:ahLst/>
              <a:cxnLst/>
              <a:rect l="l" t="t" r="r" b="b"/>
              <a:pathLst>
                <a:path w="3051392" h="2642359">
                  <a:moveTo>
                    <a:pt x="0" y="0"/>
                  </a:moveTo>
                  <a:lnTo>
                    <a:pt x="3051392" y="0"/>
                  </a:lnTo>
                  <a:lnTo>
                    <a:pt x="3051392" y="2642359"/>
                  </a:lnTo>
                  <a:lnTo>
                    <a:pt x="0" y="2642359"/>
                  </a:lnTo>
                  <a:close/>
                </a:path>
              </a:pathLst>
            </a:custGeom>
            <a:solidFill>
              <a:srgbClr val="000000">
                <a:alpha val="76863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51392" cy="2680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141419" y="254292"/>
            <a:ext cx="6613487" cy="9332445"/>
            <a:chOff x="0" y="0"/>
            <a:chExt cx="8817983" cy="1244326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8100" y="3873439"/>
              <a:ext cx="8779883" cy="5156218"/>
            </a:xfrm>
            <a:custGeom>
              <a:avLst/>
              <a:gdLst/>
              <a:ahLst/>
              <a:cxnLst/>
              <a:rect l="l" t="t" r="r" b="b"/>
              <a:pathLst>
                <a:path w="8779883" h="5156218">
                  <a:moveTo>
                    <a:pt x="0" y="0"/>
                  </a:moveTo>
                  <a:lnTo>
                    <a:pt x="8779883" y="0"/>
                  </a:lnTo>
                  <a:lnTo>
                    <a:pt x="8779883" y="5156218"/>
                  </a:lnTo>
                  <a:lnTo>
                    <a:pt x="0" y="515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6815" b="-1034"/>
              </a:stretch>
            </a:blipFill>
          </p:spPr>
        </p:sp>
        <p:grpSp>
          <p:nvGrpSpPr>
            <p:cNvPr id="34" name="Group 34"/>
            <p:cNvGrpSpPr/>
            <p:nvPr/>
          </p:nvGrpSpPr>
          <p:grpSpPr>
            <a:xfrm>
              <a:off x="349172" y="3413603"/>
              <a:ext cx="8168224" cy="5244843"/>
              <a:chOff x="0" y="0"/>
              <a:chExt cx="1935705" cy="124292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935705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1935705" h="1242922">
                    <a:moveTo>
                      <a:pt x="21484" y="0"/>
                    </a:moveTo>
                    <a:lnTo>
                      <a:pt x="1914221" y="0"/>
                    </a:lnTo>
                    <a:cubicBezTo>
                      <a:pt x="1926086" y="0"/>
                      <a:pt x="1935705" y="9619"/>
                      <a:pt x="1935705" y="21484"/>
                    </a:cubicBezTo>
                    <a:lnTo>
                      <a:pt x="1935705" y="1221439"/>
                    </a:lnTo>
                    <a:cubicBezTo>
                      <a:pt x="1935705" y="1233304"/>
                      <a:pt x="1926086" y="1242922"/>
                      <a:pt x="1914221" y="1242922"/>
                    </a:cubicBezTo>
                    <a:lnTo>
                      <a:pt x="21484" y="1242922"/>
                    </a:lnTo>
                    <a:cubicBezTo>
                      <a:pt x="15786" y="1242922"/>
                      <a:pt x="10321" y="1240659"/>
                      <a:pt x="6292" y="1236630"/>
                    </a:cubicBezTo>
                    <a:cubicBezTo>
                      <a:pt x="2263" y="1232601"/>
                      <a:pt x="0" y="1227136"/>
                      <a:pt x="0" y="1221439"/>
                    </a:cubicBezTo>
                    <a:lnTo>
                      <a:pt x="0" y="21484"/>
                    </a:lnTo>
                    <a:cubicBezTo>
                      <a:pt x="0" y="9619"/>
                      <a:pt x="9619" y="0"/>
                      <a:pt x="214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1935705" cy="1271497"/>
              </a:xfrm>
              <a:prstGeom prst="rect">
                <a:avLst/>
              </a:prstGeom>
            </p:spPr>
            <p:txBody>
              <a:bodyPr lIns="43403" tIns="43403" rIns="43403" bIns="43403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506421" y="3873439"/>
              <a:ext cx="8010975" cy="4168794"/>
            </a:xfrm>
            <a:custGeom>
              <a:avLst/>
              <a:gdLst/>
              <a:ahLst/>
              <a:cxnLst/>
              <a:rect l="l" t="t" r="r" b="b"/>
              <a:pathLst>
                <a:path w="8010975" h="4168794">
                  <a:moveTo>
                    <a:pt x="0" y="0"/>
                  </a:moveTo>
                  <a:lnTo>
                    <a:pt x="8010975" y="0"/>
                  </a:lnTo>
                  <a:lnTo>
                    <a:pt x="8010975" y="4168794"/>
                  </a:lnTo>
                  <a:lnTo>
                    <a:pt x="0" y="4168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786" r="-378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1253213" y="420500"/>
              <a:ext cx="6349656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Region 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Pattern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151449" y="971550"/>
            <a:ext cx="2724875" cy="44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2" b="1">
                <a:solidFill>
                  <a:srgbClr val="6B72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Highlights: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037484" y="1564251"/>
            <a:ext cx="4424938" cy="22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The increase in voter turnout varied across regions and reservation categories, indicating different levels of electoral participation across the state.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20913" y="477277"/>
            <a:ext cx="6613487" cy="9332445"/>
            <a:chOff x="0" y="0"/>
            <a:chExt cx="8817983" cy="1244326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38100" y="3873439"/>
              <a:ext cx="8779883" cy="5156218"/>
            </a:xfrm>
            <a:custGeom>
              <a:avLst/>
              <a:gdLst/>
              <a:ahLst/>
              <a:cxnLst/>
              <a:rect l="l" t="t" r="r" b="b"/>
              <a:pathLst>
                <a:path w="8779883" h="5156218">
                  <a:moveTo>
                    <a:pt x="0" y="0"/>
                  </a:moveTo>
                  <a:lnTo>
                    <a:pt x="8779883" y="0"/>
                  </a:lnTo>
                  <a:lnTo>
                    <a:pt x="8779883" y="5156218"/>
                  </a:lnTo>
                  <a:lnTo>
                    <a:pt x="0" y="515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6815" b="-1034"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349172" y="3413603"/>
              <a:ext cx="8168224" cy="5244843"/>
              <a:chOff x="0" y="0"/>
              <a:chExt cx="1935705" cy="124292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35705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1935705" h="1242922">
                    <a:moveTo>
                      <a:pt x="21484" y="0"/>
                    </a:moveTo>
                    <a:lnTo>
                      <a:pt x="1914221" y="0"/>
                    </a:lnTo>
                    <a:cubicBezTo>
                      <a:pt x="1926086" y="0"/>
                      <a:pt x="1935705" y="9619"/>
                      <a:pt x="1935705" y="21484"/>
                    </a:cubicBezTo>
                    <a:lnTo>
                      <a:pt x="1935705" y="1221439"/>
                    </a:lnTo>
                    <a:cubicBezTo>
                      <a:pt x="1935705" y="1233304"/>
                      <a:pt x="1926086" y="1242922"/>
                      <a:pt x="1914221" y="1242922"/>
                    </a:cubicBezTo>
                    <a:lnTo>
                      <a:pt x="21484" y="1242922"/>
                    </a:lnTo>
                    <a:cubicBezTo>
                      <a:pt x="15786" y="1242922"/>
                      <a:pt x="10321" y="1240659"/>
                      <a:pt x="6292" y="1236630"/>
                    </a:cubicBezTo>
                    <a:cubicBezTo>
                      <a:pt x="2263" y="1232601"/>
                      <a:pt x="0" y="1227136"/>
                      <a:pt x="0" y="1221439"/>
                    </a:cubicBezTo>
                    <a:lnTo>
                      <a:pt x="0" y="21484"/>
                    </a:lnTo>
                    <a:cubicBezTo>
                      <a:pt x="0" y="9619"/>
                      <a:pt x="9619" y="0"/>
                      <a:pt x="214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1935705" cy="1271497"/>
              </a:xfrm>
              <a:prstGeom prst="rect">
                <a:avLst/>
              </a:prstGeom>
            </p:spPr>
            <p:txBody>
              <a:bodyPr lIns="43403" tIns="43403" rIns="43403" bIns="43403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506421" y="3873439"/>
              <a:ext cx="8010975" cy="4168794"/>
            </a:xfrm>
            <a:custGeom>
              <a:avLst/>
              <a:gdLst/>
              <a:ahLst/>
              <a:cxnLst/>
              <a:rect l="l" t="t" r="r" b="b"/>
              <a:pathLst>
                <a:path w="8010975" h="4168794">
                  <a:moveTo>
                    <a:pt x="0" y="0"/>
                  </a:moveTo>
                  <a:lnTo>
                    <a:pt x="8010975" y="0"/>
                  </a:lnTo>
                  <a:lnTo>
                    <a:pt x="8010975" y="4168794"/>
                  </a:lnTo>
                  <a:lnTo>
                    <a:pt x="0" y="4168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86" r="-378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53213" y="420500"/>
              <a:ext cx="6349656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Region 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Pattern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31482" y="477277"/>
            <a:ext cx="6584912" cy="9332445"/>
            <a:chOff x="0" y="0"/>
            <a:chExt cx="8779883" cy="1244326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890558" y="2325534"/>
              <a:ext cx="6910797" cy="9704480"/>
            </a:xfrm>
            <a:custGeom>
              <a:avLst/>
              <a:gdLst/>
              <a:ahLst/>
              <a:cxnLst/>
              <a:rect l="l" t="t" r="r" b="b"/>
              <a:pathLst>
                <a:path w="6910797" h="9704480">
                  <a:moveTo>
                    <a:pt x="0" y="0"/>
                  </a:moveTo>
                  <a:lnTo>
                    <a:pt x="6910798" y="0"/>
                  </a:lnTo>
                  <a:lnTo>
                    <a:pt x="6910798" y="9704480"/>
                  </a:lnTo>
                  <a:lnTo>
                    <a:pt x="0" y="970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82"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1089045" y="1631980"/>
              <a:ext cx="6513825" cy="9960848"/>
              <a:chOff x="0" y="0"/>
              <a:chExt cx="812800" cy="124292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242922">
                    <a:moveTo>
                      <a:pt x="26940" y="0"/>
                    </a:moveTo>
                    <a:lnTo>
                      <a:pt x="785860" y="0"/>
                    </a:lnTo>
                    <a:cubicBezTo>
                      <a:pt x="800738" y="0"/>
                      <a:pt x="812800" y="12062"/>
                      <a:pt x="812800" y="26940"/>
                    </a:cubicBezTo>
                    <a:lnTo>
                      <a:pt x="812800" y="1215982"/>
                    </a:lnTo>
                    <a:cubicBezTo>
                      <a:pt x="812800" y="1230861"/>
                      <a:pt x="800738" y="1242922"/>
                      <a:pt x="785860" y="1242922"/>
                    </a:cubicBezTo>
                    <a:lnTo>
                      <a:pt x="26940" y="1242922"/>
                    </a:lnTo>
                    <a:cubicBezTo>
                      <a:pt x="12062" y="1242922"/>
                      <a:pt x="0" y="1230861"/>
                      <a:pt x="0" y="1215982"/>
                    </a:cubicBezTo>
                    <a:lnTo>
                      <a:pt x="0" y="26940"/>
                    </a:lnTo>
                    <a:cubicBezTo>
                      <a:pt x="0" y="12062"/>
                      <a:pt x="12062" y="0"/>
                      <a:pt x="269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812800" cy="12714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4755453" y="2325534"/>
              <a:ext cx="2683816" cy="9084760"/>
            </a:xfrm>
            <a:custGeom>
              <a:avLst/>
              <a:gdLst/>
              <a:ahLst/>
              <a:cxnLst/>
              <a:rect l="l" t="t" r="r" b="b"/>
              <a:pathLst>
                <a:path w="2683816" h="9084760">
                  <a:moveTo>
                    <a:pt x="0" y="0"/>
                  </a:moveTo>
                  <a:lnTo>
                    <a:pt x="2683816" y="0"/>
                  </a:lnTo>
                  <a:lnTo>
                    <a:pt x="2683816" y="9084760"/>
                  </a:lnTo>
                  <a:lnTo>
                    <a:pt x="0" y="908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6190" t="-1802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481245" y="2325534"/>
              <a:ext cx="3553200" cy="9084760"/>
            </a:xfrm>
            <a:custGeom>
              <a:avLst/>
              <a:gdLst/>
              <a:ahLst/>
              <a:cxnLst/>
              <a:rect l="l" t="t" r="r" b="b"/>
              <a:pathLst>
                <a:path w="3553200" h="9084760">
                  <a:moveTo>
                    <a:pt x="0" y="0"/>
                  </a:moveTo>
                  <a:lnTo>
                    <a:pt x="3553199" y="0"/>
                  </a:lnTo>
                  <a:lnTo>
                    <a:pt x="3553199" y="9084760"/>
                  </a:lnTo>
                  <a:lnTo>
                    <a:pt x="0" y="908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903" t="-1802" r="-14558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1253213" y="420500"/>
              <a:ext cx="6349656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 20 </a:t>
              </a: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Constituencies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82400" y="918270"/>
              <a:ext cx="4650914" cy="370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6"/>
                </a:lnSpc>
                <a:spcBef>
                  <a:spcPct val="0"/>
                </a:spcBef>
              </a:pPr>
              <a:r>
                <a:rPr lang="en-US" sz="1690" spc="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with largest increase in Turnout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9012" y="1907737"/>
              <a:ext cx="1752441" cy="235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spc="39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Increased Turnout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40555" y="1904618"/>
              <a:ext cx="1282793" cy="242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spc="39">
                  <a:solidFill>
                    <a:srgbClr val="B4B4B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Constituency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01504" y="254292"/>
            <a:ext cx="11585755" cy="10032708"/>
            <a:chOff x="0" y="0"/>
            <a:chExt cx="3051392" cy="26423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51392" cy="2642359"/>
            </a:xfrm>
            <a:custGeom>
              <a:avLst/>
              <a:gdLst/>
              <a:ahLst/>
              <a:cxnLst/>
              <a:rect l="l" t="t" r="r" b="b"/>
              <a:pathLst>
                <a:path w="3051392" h="2642359">
                  <a:moveTo>
                    <a:pt x="0" y="0"/>
                  </a:moveTo>
                  <a:lnTo>
                    <a:pt x="3051392" y="0"/>
                  </a:lnTo>
                  <a:lnTo>
                    <a:pt x="3051392" y="2642359"/>
                  </a:lnTo>
                  <a:lnTo>
                    <a:pt x="0" y="2642359"/>
                  </a:lnTo>
                  <a:close/>
                </a:path>
              </a:pathLst>
            </a:custGeom>
            <a:solidFill>
              <a:srgbClr val="000000">
                <a:alpha val="76863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51392" cy="2680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122369" y="254292"/>
            <a:ext cx="6613487" cy="9332445"/>
            <a:chOff x="0" y="0"/>
            <a:chExt cx="8817983" cy="1244326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8779883" cy="12443260"/>
              <a:chOff x="0" y="0"/>
              <a:chExt cx="573506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7350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73506" h="812800">
                    <a:moveTo>
                      <a:pt x="573506" y="18811"/>
                    </a:moveTo>
                    <a:lnTo>
                      <a:pt x="573506" y="793989"/>
                    </a:lnTo>
                    <a:cubicBezTo>
                      <a:pt x="573506" y="804378"/>
                      <a:pt x="565084" y="812800"/>
                      <a:pt x="554695" y="812800"/>
                    </a:cubicBezTo>
                    <a:lnTo>
                      <a:pt x="18811" y="812800"/>
                    </a:lnTo>
                    <a:cubicBezTo>
                      <a:pt x="8422" y="812800"/>
                      <a:pt x="0" y="804378"/>
                      <a:pt x="0" y="793989"/>
                    </a:cubicBezTo>
                    <a:lnTo>
                      <a:pt x="0" y="18811"/>
                    </a:lnTo>
                    <a:cubicBezTo>
                      <a:pt x="0" y="8422"/>
                      <a:pt x="8422" y="0"/>
                      <a:pt x="18811" y="0"/>
                    </a:cubicBezTo>
                    <a:lnTo>
                      <a:pt x="554695" y="0"/>
                    </a:lnTo>
                    <a:cubicBezTo>
                      <a:pt x="565084" y="0"/>
                      <a:pt x="573506" y="8422"/>
                      <a:pt x="573506" y="18811"/>
                    </a:cubicBezTo>
                    <a:close/>
                  </a:path>
                </a:pathLst>
              </a:custGeom>
              <a:solidFill>
                <a:srgbClr val="2C2C2C"/>
              </a:solidFill>
              <a:ln w="9525" cap="sq">
                <a:solidFill>
                  <a:srgbClr val="BCBCBC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573506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8100" y="3873439"/>
              <a:ext cx="8779883" cy="5156218"/>
            </a:xfrm>
            <a:custGeom>
              <a:avLst/>
              <a:gdLst/>
              <a:ahLst/>
              <a:cxnLst/>
              <a:rect l="l" t="t" r="r" b="b"/>
              <a:pathLst>
                <a:path w="8779883" h="5156218">
                  <a:moveTo>
                    <a:pt x="0" y="0"/>
                  </a:moveTo>
                  <a:lnTo>
                    <a:pt x="8779883" y="0"/>
                  </a:lnTo>
                  <a:lnTo>
                    <a:pt x="8779883" y="5156218"/>
                  </a:lnTo>
                  <a:lnTo>
                    <a:pt x="0" y="515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6815" b="-1034"/>
              </a:stretch>
            </a:blipFill>
          </p:spPr>
        </p:sp>
        <p:grpSp>
          <p:nvGrpSpPr>
            <p:cNvPr id="34" name="Group 34"/>
            <p:cNvGrpSpPr/>
            <p:nvPr/>
          </p:nvGrpSpPr>
          <p:grpSpPr>
            <a:xfrm>
              <a:off x="349172" y="3413603"/>
              <a:ext cx="8168224" cy="5244843"/>
              <a:chOff x="0" y="0"/>
              <a:chExt cx="1935705" cy="124292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935705" cy="1242922"/>
              </a:xfrm>
              <a:custGeom>
                <a:avLst/>
                <a:gdLst/>
                <a:ahLst/>
                <a:cxnLst/>
                <a:rect l="l" t="t" r="r" b="b"/>
                <a:pathLst>
                  <a:path w="1935705" h="1242922">
                    <a:moveTo>
                      <a:pt x="21484" y="0"/>
                    </a:moveTo>
                    <a:lnTo>
                      <a:pt x="1914221" y="0"/>
                    </a:lnTo>
                    <a:cubicBezTo>
                      <a:pt x="1926086" y="0"/>
                      <a:pt x="1935705" y="9619"/>
                      <a:pt x="1935705" y="21484"/>
                    </a:cubicBezTo>
                    <a:lnTo>
                      <a:pt x="1935705" y="1221439"/>
                    </a:lnTo>
                    <a:cubicBezTo>
                      <a:pt x="1935705" y="1233304"/>
                      <a:pt x="1926086" y="1242922"/>
                      <a:pt x="1914221" y="1242922"/>
                    </a:cubicBezTo>
                    <a:lnTo>
                      <a:pt x="21484" y="1242922"/>
                    </a:lnTo>
                    <a:cubicBezTo>
                      <a:pt x="15786" y="1242922"/>
                      <a:pt x="10321" y="1240659"/>
                      <a:pt x="6292" y="1236630"/>
                    </a:cubicBezTo>
                    <a:cubicBezTo>
                      <a:pt x="2263" y="1232601"/>
                      <a:pt x="0" y="1227136"/>
                      <a:pt x="0" y="1221439"/>
                    </a:cubicBezTo>
                    <a:lnTo>
                      <a:pt x="0" y="21484"/>
                    </a:lnTo>
                    <a:cubicBezTo>
                      <a:pt x="0" y="9619"/>
                      <a:pt x="9619" y="0"/>
                      <a:pt x="214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2C2C2C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1935705" cy="1271497"/>
              </a:xfrm>
              <a:prstGeom prst="rect">
                <a:avLst/>
              </a:prstGeom>
            </p:spPr>
            <p:txBody>
              <a:bodyPr lIns="43403" tIns="43403" rIns="43403" bIns="43403" rtlCol="0" anchor="ctr"/>
              <a:lstStyle/>
              <a:p>
                <a:pPr algn="ctr">
                  <a:lnSpc>
                    <a:spcPts val="2256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766671" y="420500"/>
              <a:ext cx="6836198" cy="50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sz="2759" b="1">
                  <a:solidFill>
                    <a:srgbClr val="F2FF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Reservation Category </a:t>
              </a:r>
              <a:r>
                <a:rPr lang="en-US" sz="27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Pattern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35457" y="3840472"/>
              <a:ext cx="7195654" cy="4391105"/>
            </a:xfrm>
            <a:custGeom>
              <a:avLst/>
              <a:gdLst/>
              <a:ahLst/>
              <a:cxnLst/>
              <a:rect l="l" t="t" r="r" b="b"/>
              <a:pathLst>
                <a:path w="7195654" h="4391105">
                  <a:moveTo>
                    <a:pt x="0" y="0"/>
                  </a:moveTo>
                  <a:lnTo>
                    <a:pt x="7195654" y="0"/>
                  </a:lnTo>
                  <a:lnTo>
                    <a:pt x="7195654" y="4391105"/>
                  </a:lnTo>
                  <a:lnTo>
                    <a:pt x="0" y="4391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751" r="-14498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13151449" y="971550"/>
            <a:ext cx="2724875" cy="44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2" b="1">
                <a:solidFill>
                  <a:srgbClr val="6B72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Highlights: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037484" y="1564251"/>
            <a:ext cx="4424938" cy="22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41" lvl="1" indent="-227970" algn="l">
              <a:lnSpc>
                <a:spcPts val="2956"/>
              </a:lnSpc>
              <a:buFont typeface="Arial"/>
              <a:buChar char="•"/>
            </a:pPr>
            <a:r>
              <a:rPr lang="en-US" sz="2111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</a:rPr>
              <a:t>The increase in voter turnout varied across regions and reservation categories, indicating different levels of electoral participation across the state.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7374" y="1889579"/>
            <a:ext cx="13846918" cy="677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52"/>
              </a:lnSpc>
            </a:pP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The 2026 results introduced a new distribution of seats, with TVK securing </a:t>
            </a:r>
            <a:r>
              <a:rPr lang="en-US" sz="275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108</a:t>
            </a: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constituencies and winning the highest number of seats among all parties.</a:t>
            </a:r>
          </a:p>
          <a:p>
            <a:pPr algn="just">
              <a:lnSpc>
                <a:spcPts val="3852"/>
              </a:lnSpc>
            </a:pPr>
            <a:endParaRPr lang="en-US" sz="275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852"/>
              </a:lnSpc>
            </a:pP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The election recorded a historic constituency flip rate. Out of 234 constituencies, </a:t>
            </a:r>
            <a:r>
              <a:rPr lang="en-US" sz="275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163</a:t>
            </a: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changed their winning party between 2021 and 2026, resulting in a flip rate of approximately </a:t>
            </a:r>
            <a:r>
              <a:rPr lang="en-US" sz="275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70.1% </a:t>
            </a: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— the highest among recent Tamil Nadu Assembly elections.</a:t>
            </a:r>
          </a:p>
          <a:p>
            <a:pPr algn="just">
              <a:lnSpc>
                <a:spcPts val="3852"/>
              </a:lnSpc>
            </a:pPr>
            <a:endParaRPr lang="en-US" sz="275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852"/>
              </a:lnSpc>
            </a:pP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Tamil Nadu recorded its highest-ever voter turnout of </a:t>
            </a:r>
            <a:r>
              <a:rPr lang="en-US" sz="2751">
                <a:solidFill>
                  <a:srgbClr val="F2FF00"/>
                </a:solidFill>
                <a:latin typeface="Canva Sans"/>
                <a:ea typeface="Canva Sans"/>
                <a:cs typeface="Canva Sans"/>
                <a:sym typeface="Canva Sans"/>
              </a:rPr>
              <a:t>85.1% </a:t>
            </a: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2026, reflecting a significant increase in electoral participation compared to previous elections.</a:t>
            </a:r>
          </a:p>
          <a:p>
            <a:pPr algn="just">
              <a:lnSpc>
                <a:spcPts val="3852"/>
              </a:lnSpc>
            </a:pPr>
            <a:endParaRPr lang="en-US" sz="275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852"/>
              </a:lnSpc>
            </a:pPr>
            <a:r>
              <a:rPr lang="en-US" sz="2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The geographic analysis showed a substantial reshaping of the electoral map, with different parties leading across different regions, highlighting the evolving regional distribution of political support.</a:t>
            </a:r>
          </a:p>
          <a:p>
            <a:pPr algn="just">
              <a:lnSpc>
                <a:spcPts val="3852"/>
              </a:lnSpc>
            </a:pPr>
            <a:endParaRPr lang="en-US" sz="275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86420" y="780713"/>
            <a:ext cx="12768826" cy="69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405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INSIGHTS TAMIL NADU ELECTION ANALYSIS</a:t>
            </a: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042" y="232198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7"/>
                </a:lnTo>
                <a:lnTo>
                  <a:pt x="0" y="958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24381" y="3844243"/>
            <a:ext cx="1243923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2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Custom</PresentationFormat>
  <Paragraphs>142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Canva Sans</vt:lpstr>
      <vt:lpstr>Arial</vt:lpstr>
      <vt:lpstr>Archivo Black</vt:lpstr>
      <vt:lpstr>Calibri</vt:lpstr>
      <vt:lpstr>Canva Sans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geographic story</dc:title>
  <cp:lastModifiedBy>Aashriya Rawat</cp:lastModifiedBy>
  <cp:revision>2</cp:revision>
  <dcterms:created xsi:type="dcterms:W3CDTF">2006-08-16T00:00:00Z</dcterms:created>
  <dcterms:modified xsi:type="dcterms:W3CDTF">2026-06-05T07:11:09Z</dcterms:modified>
  <dc:identifier>DAHKp7BeIic</dc:identifier>
</cp:coreProperties>
</file>